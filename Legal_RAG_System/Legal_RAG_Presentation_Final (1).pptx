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Cases by Country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Divorce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Slovenia</c:v>
                </c:pt>
                <c:pt idx="1">
                  <c:v>Italy</c:v>
                </c:pt>
                <c:pt idx="2">
                  <c:v>Estonia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38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BA-4D04-8636-CD53FD92CE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Inheritance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Slovenia</c:v>
                </c:pt>
                <c:pt idx="1">
                  <c:v>Italy</c:v>
                </c:pt>
                <c:pt idx="2">
                  <c:v>Estonia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209</c:v>
                </c:pt>
                <c:pt idx="1">
                  <c:v>303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BA-4D04-8636-CD53FD92CE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Past Cases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Slovenia</c:v>
                </c:pt>
                <c:pt idx="1">
                  <c:v>Italy</c:v>
                </c:pt>
                <c:pt idx="2">
                  <c:v>Estonia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201</c:v>
                </c:pt>
                <c:pt idx="1">
                  <c:v>470</c:v>
                </c:pt>
                <c:pt idx="2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E-481E-993E-28D8CECE7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Agent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Ctx Precision</c:v>
                </c:pt>
                <c:pt idx="1">
                  <c:v>Ctx Recall</c:v>
                </c:pt>
                <c:pt idx="2">
                  <c:v>Faithfulness</c:v>
                </c:pt>
                <c:pt idx="3">
                  <c:v>Ans. Relevancy</c:v>
                </c:pt>
                <c:pt idx="4">
                  <c:v>Ans. Correctness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0.68300000000000005</c:v>
                </c:pt>
                <c:pt idx="2">
                  <c:v>0.55800000000000005</c:v>
                </c:pt>
                <c:pt idx="3">
                  <c:v>0.497</c:v>
                </c:pt>
                <c:pt idx="4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6C-407D-B232-3748490384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Ctx Precision</c:v>
                </c:pt>
                <c:pt idx="1">
                  <c:v>Ctx Recall</c:v>
                </c:pt>
                <c:pt idx="2">
                  <c:v>Faithfulness</c:v>
                </c:pt>
                <c:pt idx="3">
                  <c:v>Ans. Relevancy</c:v>
                </c:pt>
                <c:pt idx="4">
                  <c:v>Ans. Correctness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</c:v>
                </c:pt>
                <c:pt idx="1">
                  <c:v>0.65</c:v>
                </c:pt>
                <c:pt idx="2">
                  <c:v>0.622</c:v>
                </c:pt>
                <c:pt idx="3">
                  <c:v>0.34300000000000003</c:v>
                </c:pt>
                <c:pt idx="4">
                  <c:v>0.51300000000000001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6C-407D-B232-3748490384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 RAG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Ctx Precision</c:v>
                </c:pt>
                <c:pt idx="1">
                  <c:v>Ctx Recall</c:v>
                </c:pt>
                <c:pt idx="2">
                  <c:v>Faithfulness</c:v>
                </c:pt>
                <c:pt idx="3">
                  <c:v>Ans. Relevancy</c:v>
                </c:pt>
                <c:pt idx="4">
                  <c:v>Ans. Correctness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</c:v>
                </c:pt>
                <c:pt idx="1">
                  <c:v>0.71699999999999997</c:v>
                </c:pt>
                <c:pt idx="2">
                  <c:v>0.56599999999999995</c:v>
                </c:pt>
                <c:pt idx="3">
                  <c:v>0.16</c:v>
                </c:pt>
                <c:pt idx="4">
                  <c:v>0.437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6C-407D-B232-3748490384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15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463040" y="4023360"/>
            <a:ext cx="411480" cy="411480"/>
          </a:xfrm>
          <a:prstGeom prst="ellipse">
            <a:avLst/>
          </a:prstGeom>
          <a:solidFill>
            <a:srgbClr val="00924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4630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468880" y="4023360"/>
            <a:ext cx="411480" cy="411480"/>
          </a:xfrm>
          <a:prstGeom prst="ellipse">
            <a:avLst/>
          </a:prstGeom>
          <a:solidFill>
            <a:srgbClr val="0072C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4688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4023360"/>
            <a:ext cx="411480" cy="411480"/>
          </a:xfrm>
          <a:prstGeom prst="ellipse">
            <a:avLst/>
          </a:prstGeom>
          <a:solidFill>
            <a:srgbClr val="003D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4747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Italy  ·  Estonia  ·  Slovenia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System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Cross-Border Civil Law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Exam Project  ·  2025–2026</a:t>
            </a:r>
            <a:endParaRPr lang="en-US" sz="1300" dirty="0"/>
          </a:p>
        </p:txBody>
      </p:sp>
      <p:sp>
        <p:nvSpPr>
          <p:cNvPr id="20" name="Text Authors"/>
          <p:cNvSpPr/>
          <p:nvPr/>
        </p:nvSpPr>
        <p:spPr>
          <a:xfrm>
            <a:off x="457200" y="3330000"/>
            <a:ext cx="822960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Souha Aouididi  &amp;  Lorenzo Bove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</a:rPr>
              <a:t>Prof. Flora Amato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CREA2 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3 Countries: Italy, Estonia, Slovenia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2 Legal areas: Divorce &amp; Inheritance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2 Document types per area:</a:t>
            </a:r>
            <a:endParaRPr lang="en-US" sz="12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Civil code articles (codes)</a:t>
            </a:r>
            <a:endParaRPr lang="en-US" sz="12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Past court cases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All in JSON format with metadata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Italy: 470 past cases, 303 inheritance codes (largest)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Estonia: 50 divorce, 49 inheritance codes, 122 cases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480560" y="91440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Classical RAG + 4 Granular Stores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32588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JSON Documents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Italy · Estonia · Slovenia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868680"/>
            <a:ext cx="132588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73736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Chunking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512 chars, overlap 50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1234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132588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0040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all-MiniLM-L6-v2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1234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132588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FAISS 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4 granular stores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1234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868680"/>
            <a:ext cx="1325880" cy="12344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12648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Retrieval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Cosine sim + rerank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2360" y="1234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9520" y="868680"/>
            <a:ext cx="1325880" cy="1234440"/>
          </a:xfrm>
          <a:prstGeom prst="rect">
            <a:avLst/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58952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895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LLM Answer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17373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llama-3.3-70b (Groq)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 Granular Vector Stores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2788920"/>
            <a:ext cx="2011680" cy="1737360"/>
          </a:xfrm>
          <a:prstGeom prst="rect">
            <a:avLst/>
          </a:prstGeom>
          <a:solidFill>
            <a:srgbClr val="DBEAFE"/>
          </a:solidFill>
          <a:ln w="1905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6576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divorce_codes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3291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Divorce legislation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IT · EE · SI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country + law + type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14600" y="2788920"/>
            <a:ext cx="2011680" cy="1737360"/>
          </a:xfrm>
          <a:prstGeom prst="rect">
            <a:avLst/>
          </a:prstGeom>
          <a:solidFill>
            <a:srgbClr val="BFDBFE"/>
          </a:solidFill>
          <a:ln w="190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251460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divorce_cases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3291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Divorce court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IT · EE · SI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146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country + law + type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788920"/>
            <a:ext cx="2011680" cy="1737360"/>
          </a:xfrm>
          <a:prstGeom prst="rect">
            <a:avLst/>
          </a:prstGeom>
          <a:solidFill>
            <a:srgbClr val="D1FAE5"/>
          </a:solidFill>
          <a:ln w="1905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466344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inheritance_codes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291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Inheritance legislation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IT · EE · SI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country + law + type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2788920"/>
            <a:ext cx="2011680" cy="1737360"/>
          </a:xfrm>
          <a:prstGeom prst="rect">
            <a:avLst/>
          </a:prstGeom>
          <a:solidFill>
            <a:srgbClr val="A7F3D0"/>
          </a:solidFill>
          <a:ln w="19050">
            <a:solidFill>
              <a:srgbClr val="064E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81228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4E3B"/>
                </a:solidFill>
              </a:rPr>
              <a:t>inheritance_cases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12280" y="3291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Inheritance court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IT · EE · SI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1228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country + law + type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— Single Agent (ReAct)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4813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20040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THOUGHT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 YES/NO?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2311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320040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DBs + metadata 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9809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32004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Rerank · threshold 0.45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7307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3200400" cy="5669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Anti-hallucination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868680"/>
            <a:ext cx="4754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206240" y="960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Design Choices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Few-shot router prompt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6550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YES/NO with domain-specific examples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Static DB descriptions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2037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Hard-coded, not sampled from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Metadata pre-filter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2752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Country + law extracted before FAISS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Threshold = 0.45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33009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vs 0.1 baseline → less noise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3611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1772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Anti-hallucination prompt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8496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ONLY context; cite articles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4160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17720" y="4160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top_k=30 → top_k_final=10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43982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Wide net, then strict reranking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— Multi-Agent Supervisor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868680"/>
            <a:ext cx="36576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0" y="8686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SUPERVISOR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Analyzes question → selects sub-agents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527048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1920240" cy="566928"/>
          </a:xfrm>
          <a:prstGeom prst="rect">
            <a:avLst/>
          </a:prstGeom>
          <a:solidFill>
            <a:srgbClr val="DBEAFE"/>
          </a:solidFill>
          <a:ln w="1905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</a:rPr>
              <a:t>divorce_codes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1920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Retrieval + Rerank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19202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7432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Partial 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527048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468880" y="1938528"/>
            <a:ext cx="1920240" cy="566928"/>
          </a:xfrm>
          <a:prstGeom prst="rect">
            <a:avLst/>
          </a:prstGeom>
          <a:solidFill>
            <a:srgbClr val="BFDBFE"/>
          </a:solidFill>
          <a:ln w="190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46888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divorce_cases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2697480"/>
            <a:ext cx="1920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46888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Retrieval + Rerank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291840"/>
            <a:ext cx="19202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4688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Partial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527048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663440" y="1938528"/>
            <a:ext cx="1920240" cy="566928"/>
          </a:xfrm>
          <a:prstGeom prst="rect">
            <a:avLst/>
          </a:prstGeom>
          <a:solidFill>
            <a:srgbClr val="D1FAE5"/>
          </a:solidFill>
          <a:ln w="1905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</a:rPr>
              <a:t>inheritance_codes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1920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66344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Retrieval + Rerank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19202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66344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Partial Answer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1527048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858000" y="1938528"/>
            <a:ext cx="1920240" cy="566928"/>
          </a:xfrm>
          <a:prstGeom prst="rect">
            <a:avLst/>
          </a:prstGeom>
          <a:solidFill>
            <a:srgbClr val="A7F3D0"/>
          </a:solidFill>
          <a:ln w="19050">
            <a:solidFill>
              <a:srgbClr val="064E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58000" y="1938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</a:rPr>
              <a:t>inheritance_cases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2697480"/>
            <a:ext cx="1920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85800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Retrieval + Rerank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3291840"/>
            <a:ext cx="192024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5800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Partial Answer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▼  Supervisor synthesizes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94560" y="4069080"/>
            <a:ext cx="47548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2194560" y="40690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Final coherent answer  ·  structured by country for comparative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 — Hybrid RAG (Metadata + Vector)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Question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</a:rPr>
              <a:t>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39319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Metadata Extraction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law · country · articles · children · duration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0" y="2276856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3931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FAISS + Metadata Pre-filter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Filter: law='Divorce' first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304495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39319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Similarity Reranking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on filtered subset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45920" y="3813048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39319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Generation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metadata + context in prompt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114800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Extracted Metadata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"law": "Divorce",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"presence_of_children": true,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"duration_of_marriage":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"10 years",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"marital_regime":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"community of property",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"nature_of_separation":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"Judicial",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"civil_codes_used":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["Art. 191"] 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 Results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60120"/>
            <a:ext cx="28346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5943600" y="960120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precision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13441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All architectures (0.800)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Tied across all three systems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28346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28346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recall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67004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Hybrid RAG (0.717)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Metadata filtering broadens relevant context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3611880"/>
            <a:ext cx="28346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5943600" y="3611880"/>
            <a:ext cx="2834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943600" y="36118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faithfulness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399592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Multi-Agent (0.622)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Per-domain grounding limits hallucination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3566160"/>
          </a:xfrm>
          <a:prstGeom prst="rect">
            <a:avLst/>
          </a:prstGeom>
          <a:solidFill>
            <a:srgbClr val="1A2E60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Single Agent (ReAct)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Best relevancy &amp; correctness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Best for simple, single-country queries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Fewer LLM calls → faster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Ctx Precision 0.800 with threshold 0.45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97480" cy="3566160"/>
          </a:xfrm>
          <a:prstGeom prst="rect">
            <a:avLst/>
          </a:prstGeom>
          <a:solidFill>
            <a:srgbClr val="1A2E60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4612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Multi-Agent Supervisor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Best for 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Best faithfulness (0.622)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Ideal for comparative questions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Modular: add countries/domains easily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3566160"/>
          </a:xfrm>
          <a:prstGeom prst="rect">
            <a:avLst/>
          </a:prstGeom>
          <a:solidFill>
            <a:srgbClr val="1A2E60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97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126480" y="9144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RAG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Best context 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Best recall (0.717)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Structured metadata reduces noise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• Higher latency (extra LLM call)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Multi-Agent: best faithfulness (0.622)  ·  Hybrid RAG: best recall (0.717)  ·  Single Agent: best relevancy (0.497) &amp; correctness (0.595)  —  Recommended for scaling: Multi-Agent Supervisor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"/>
          <p:cNvSpPr/>
          <p:nvPr/>
        </p:nvSpPr>
        <p:spPr>
          <a:xfrm>
            <a:off x="0" y="0"/>
            <a:ext cx="550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00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Best Architecture &amp; Conclusion</a:t>
            </a:r>
          </a:p>
        </p:txBody>
      </p:sp>
      <p:sp>
        <p:nvSpPr>
          <p:cNvPr id="5" name="WinnerHeader"/>
          <p:cNvSpPr/>
          <p:nvPr/>
        </p:nvSpPr>
        <p:spPr>
          <a:xfrm>
            <a:off x="457200" y="1050000"/>
            <a:ext cx="8229600" cy="420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🏆  Recommended Architecture: Multi-Agent Supervisor</a:t>
            </a:r>
          </a:p>
        </p:txBody>
      </p:sp>
      <p:sp>
        <p:nvSpPr>
          <p:cNvPr id="6" name="WinnerBody"/>
          <p:cNvSpPr/>
          <p:nvPr/>
        </p:nvSpPr>
        <p:spPr>
          <a:xfrm>
            <a:off x="457200" y="1470000"/>
            <a:ext cx="8229600" cy="960000"/>
          </a:xfrm>
          <a:prstGeom prst="rect">
            <a:avLst/>
          </a:prstGeom>
          <a:solidFill>
            <a:srgbClr val="1C3A5E"/>
          </a:solidFill>
          <a:ln w="18000">
            <a:solidFill>
              <a:srgbClr val="16A085"/>
            </a:solidFill>
          </a:ln>
        </p:spPr>
        <p:txBody>
          <a:bodyPr lIns="180000" tIns="12000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/>
              </a:rPr>
              <a:t>Why Multi-Agent wins for legal RAG at scale:</a:t>
            </a:r>
          </a:p>
          <a:p>
            <a:pPr marL="180000" indent="-18000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Best faithfulness (0.622) — per-domain grounding minimises hallucination, critical in legal contexts</a:t>
            </a:r>
          </a:p>
          <a:p>
            <a:pPr marL="180000" indent="-18000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Modular design — add new countries or legal domains without reindexing existing stores</a:t>
            </a:r>
          </a:p>
          <a:p>
            <a:pPr marL="180000" indent="-18000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Ideal for comparative questions across Italy, Estonia &amp; Slovenia simultaneously</a:t>
            </a:r>
          </a:p>
        </p:txBody>
      </p:sp>
      <p:sp>
        <p:nvSpPr>
          <p:cNvPr id="7" name="SA_card"/>
          <p:cNvSpPr/>
          <p:nvPr/>
        </p:nvSpPr>
        <p:spPr>
          <a:xfrm>
            <a:off x="457200" y="2580000"/>
            <a:ext cx="2600000" cy="1050000"/>
          </a:xfrm>
          <a:prstGeom prst="rect">
            <a:avLst/>
          </a:prstGeom>
          <a:solidFill>
            <a:srgbClr val="2C4E8A"/>
          </a:solidFill>
          <a:ln w="18000">
            <a:solidFill>
              <a:srgbClr val="4A90D9"/>
            </a:solidFill>
          </a:ln>
        </p:spPr>
        <p:txBody>
          <a:bodyPr lIns="120000" anchor="ctr"/>
          <a:lstStyle/>
          <a:p>
            <a:pPr>
              <a:buNone/>
            </a:pPr>
            <a:r>
              <a:rPr lang="en-US" sz="1300" b="1" dirty="0">
                <a:solidFill>
                  <a:srgbClr val="4A90D9"/>
                </a:solidFill>
                <a:latin typeface="Calibri"/>
              </a:rPr>
              <a:t>Single Agent</a:t>
            </a:r>
          </a:p>
          <a:p>
            <a:pPr>
              <a:buNone/>
            </a:pPr>
            <a:r>
              <a:rPr lang="en-US" sz="1050" dirty="0">
                <a:solidFill>
                  <a:srgbClr val="CADCFC"/>
                </a:solidFill>
                <a:latin typeface="Calibri"/>
              </a:rPr>
              <a:t>Relevancy: 0.497  Correctness: 0.595</a:t>
            </a:r>
          </a:p>
          <a:p>
            <a:pPr>
              <a:buNone/>
            </a:pPr>
            <a:r>
              <a:rPr lang="en-US" sz="1050" dirty="0">
                <a:solidFill>
                  <a:srgbClr val="CADCFC"/>
                </a:solidFill>
                <a:latin typeface="Calibri"/>
              </a:rPr>
              <a:t>Faithfulness: 0.558  Recall: 0.683</a:t>
            </a:r>
          </a:p>
        </p:txBody>
      </p:sp>
      <p:sp>
        <p:nvSpPr>
          <p:cNvPr id="8" name="MA_card"/>
          <p:cNvSpPr/>
          <p:nvPr/>
        </p:nvSpPr>
        <p:spPr>
          <a:xfrm>
            <a:off x="3257200" y="2580000"/>
            <a:ext cx="2600000" cy="1050000"/>
          </a:xfrm>
          <a:prstGeom prst="rect">
            <a:avLst/>
          </a:prstGeom>
          <a:solidFill>
            <a:srgbClr val="1C5E42"/>
          </a:solidFill>
          <a:ln w="28000">
            <a:solidFill>
              <a:srgbClr val="2ECC71"/>
            </a:solidFill>
          </a:ln>
        </p:spPr>
        <p:txBody>
          <a:bodyPr lIns="120000" anchor="ctr"/>
          <a:lstStyle/>
          <a:p>
            <a:pPr>
              <a:buNone/>
            </a:pPr>
            <a:r>
              <a:rPr lang="en-US" sz="1300" b="1" dirty="0">
                <a:solidFill>
                  <a:srgbClr val="2ECC71"/>
                </a:solidFill>
                <a:latin typeface="Calibri"/>
              </a:rPr>
              <a:t>Multi-Agent ★</a:t>
            </a:r>
          </a:p>
          <a:p>
            <a:pPr>
              <a:buNone/>
            </a:pPr>
            <a:r>
              <a:rPr lang="en-US" sz="1050" dirty="0">
                <a:solidFill>
                  <a:srgbClr val="A8F0C6"/>
                </a:solidFill>
                <a:latin typeface="Calibri"/>
              </a:rPr>
              <a:t>Faithfulness: 0.622 ← best</a:t>
            </a:r>
          </a:p>
          <a:p>
            <a:pPr>
              <a:buNone/>
            </a:pPr>
            <a:r>
              <a:rPr lang="en-US" sz="1050" dirty="0">
                <a:solidFill>
                  <a:srgbClr val="A8F0C6"/>
                </a:solidFill>
                <a:latin typeface="Calibri"/>
              </a:rPr>
              <a:t>Recall: 0.650  Correctness: 0.513</a:t>
            </a:r>
          </a:p>
        </p:txBody>
      </p:sp>
      <p:sp>
        <p:nvSpPr>
          <p:cNvPr id="9" name="HR_card"/>
          <p:cNvSpPr/>
          <p:nvPr/>
        </p:nvSpPr>
        <p:spPr>
          <a:xfrm>
            <a:off x="6057200" y="2580000"/>
            <a:ext cx="2629600" cy="1050000"/>
          </a:xfrm>
          <a:prstGeom prst="rect">
            <a:avLst/>
          </a:prstGeom>
          <a:solidFill>
            <a:srgbClr val="5E3A1C"/>
          </a:solidFill>
          <a:ln w="18000">
            <a:solidFill>
              <a:srgbClr val="E67E22"/>
            </a:solidFill>
          </a:ln>
        </p:spPr>
        <p:txBody>
          <a:bodyPr lIns="120000" anchor="ctr"/>
          <a:lstStyle/>
          <a:p>
            <a:pPr>
              <a:buNone/>
            </a:pPr>
            <a:r>
              <a:rPr lang="en-US" sz="1300" b="1" dirty="0">
                <a:solidFill>
                  <a:srgbClr val="E67E22"/>
                </a:solidFill>
                <a:latin typeface="Calibri"/>
              </a:rPr>
              <a:t>Hybrid RAG</a:t>
            </a:r>
          </a:p>
          <a:p>
            <a:pPr>
              <a:buNone/>
            </a:pPr>
            <a:r>
              <a:rPr lang="en-US" sz="1050" dirty="0">
                <a:solidFill>
                  <a:srgbClr val="F5CBA7"/>
                </a:solidFill>
                <a:latin typeface="Calibri"/>
              </a:rPr>
              <a:t>Recall: 0.717 ← best</a:t>
            </a:r>
          </a:p>
          <a:p>
            <a:pPr>
              <a:buNone/>
            </a:pPr>
            <a:r>
              <a:rPr lang="en-US" sz="1050" dirty="0">
                <a:solidFill>
                  <a:srgbClr val="F5CBA7"/>
                </a:solidFill>
                <a:latin typeface="Calibri"/>
              </a:rPr>
              <a:t>Relevancy: 0.160 ↓  Precision: 0.800</a:t>
            </a:r>
          </a:p>
        </p:txBody>
      </p:sp>
      <p:sp>
        <p:nvSpPr>
          <p:cNvPr id="10" name="ConclusionHeader"/>
          <p:cNvSpPr/>
          <p:nvPr/>
        </p:nvSpPr>
        <p:spPr>
          <a:xfrm>
            <a:off x="457200" y="3780000"/>
            <a:ext cx="8229600" cy="340000"/>
          </a:xfrm>
          <a:prstGeom prst="rect">
            <a:avLst/>
          </a:prstGeom>
          <a:solidFill>
            <a:srgbClr val="2C3E7A"/>
          </a:solidFill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1" name="ConclusionBody"/>
          <p:cNvSpPr/>
          <p:nvPr/>
        </p:nvSpPr>
        <p:spPr>
          <a:xfrm>
            <a:off x="457200" y="4120000"/>
            <a:ext cx="8229600" cy="156000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lIns="120000" tIns="10000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All three architectures achieve equal context precision (0.800) — retrieval quality has reached a ceiling independent of routing strategy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Hybrid RAG’s very low answer relevancy (0.160) reveals a key weakness: metadata schema fails on out-of-domain questions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•  Multi-Agent is recommended for production: best faithfulness + modular + fault-tolerant across multiple jurisdictions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</a:rPr>
              <a:t>•  Future work: adaptive routing layer, legal re-ranking models, expanded EU corpus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On-screen Show (16:9)</PresentationFormat>
  <Paragraphs>191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Architecture &amp;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RAG System</dc:title>
  <dc:subject>PptxGenJS Presentation</dc:subject>
  <dc:creator>PptxGenJS</dc:creator>
  <cp:lastModifiedBy>SOUHA AOUIDIDI</cp:lastModifiedBy>
  <cp:revision>1</cp:revision>
  <dcterms:created xsi:type="dcterms:W3CDTF">2026-04-20T20:59:25Z</dcterms:created>
  <dcterms:modified xsi:type="dcterms:W3CDTF">2026-04-26T21:35:34Z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2026-04-26T21:35:31Z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92b35077-3f9a-4e25-acf9-bbde20deae95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