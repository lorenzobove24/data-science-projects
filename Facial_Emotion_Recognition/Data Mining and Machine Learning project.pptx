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256" r:id="rId5"/>
    <p:sldId id="276" r:id="rId6"/>
    <p:sldId id="290" r:id="rId7"/>
    <p:sldId id="288" r:id="rId8"/>
    <p:sldId id="289" r:id="rId9"/>
    <p:sldId id="292" r:id="rId10"/>
    <p:sldId id="291" r:id="rId11"/>
    <p:sldId id="306" r:id="rId12"/>
    <p:sldId id="293" r:id="rId13"/>
    <p:sldId id="294" r:id="rId14"/>
    <p:sldId id="280" r:id="rId15"/>
    <p:sldId id="311" r:id="rId16"/>
    <p:sldId id="296" r:id="rId17"/>
    <p:sldId id="295" r:id="rId18"/>
    <p:sldId id="310" r:id="rId19"/>
    <p:sldId id="297" r:id="rId20"/>
    <p:sldId id="299" r:id="rId21"/>
    <p:sldId id="298" r:id="rId22"/>
    <p:sldId id="300" r:id="rId23"/>
    <p:sldId id="314" r:id="rId24"/>
    <p:sldId id="313" r:id="rId25"/>
    <p:sldId id="312" r:id="rId26"/>
    <p:sldId id="302" r:id="rId27"/>
    <p:sldId id="303" r:id="rId28"/>
    <p:sldId id="304" r:id="rId29"/>
    <p:sldId id="305" r:id="rId30"/>
    <p:sldId id="315" r:id="rId31"/>
    <p:sldId id="301" r:id="rId32"/>
    <p:sldId id="287" r:id="rId33"/>
    <p:sldId id="308" r:id="rId34"/>
    <p:sldId id="2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33D611-1703-4CD9-A242-47664A8F0681}" v="761" dt="2025-12-14T23:28:50.6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showGuides="1">
      <p:cViewPr>
        <p:scale>
          <a:sx n="76" d="100"/>
          <a:sy n="76" d="100"/>
        </p:scale>
        <p:origin x="946" y="197"/>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12/14/2025</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12/14/2025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F2D31-71D7-F0C3-D46C-C4D66EDDA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84B11-9287-1551-4C85-D12F706BC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46F88-DFDB-E3BA-9513-0D9639F028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781E87-F7FD-B2E8-DCFC-D8ADF54F3317}"/>
              </a:ext>
            </a:extLst>
          </p:cNvPr>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951734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045E-B806-64AF-A53A-15D18F7E9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E3567-9385-BF28-932C-2C364A45D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30004-34C8-7EB4-6480-142D072085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4E2614-F817-512C-04E8-21A3255D17A4}"/>
              </a:ext>
            </a:extLst>
          </p:cNvPr>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2546273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3728569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1BFE-55A0-78E2-352D-4A5AF129F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1A016-B82A-64E4-F43E-26D5A2F891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5AD59-E213-6A8A-7538-8FA254AFB20B}"/>
              </a:ext>
            </a:extLst>
          </p:cNvPr>
          <p:cNvSpPr>
            <a:spLocks noGrp="1"/>
          </p:cNvSpPr>
          <p:nvPr>
            <p:ph type="body" idx="1"/>
          </p:nvPr>
        </p:nvSpPr>
        <p:spPr/>
        <p:txBody>
          <a:bodyPr/>
          <a:lstStyle/>
          <a:p>
            <a:r>
              <a:rPr lang="en-US" dirty="0"/>
              <a:t>In the linear kernel the hyperplane is represented by a straight line, </a:t>
            </a:r>
          </a:p>
        </p:txBody>
      </p:sp>
      <p:sp>
        <p:nvSpPr>
          <p:cNvPr id="4" name="Slide Number Placeholder 3">
            <a:extLst>
              <a:ext uri="{FF2B5EF4-FFF2-40B4-BE49-F238E27FC236}">
                <a16:creationId xmlns:a16="http://schemas.microsoft.com/office/drawing/2014/main" id="{5714D51D-A3A7-2883-0DBC-2CDE8E2FC91C}"/>
              </a:ext>
            </a:extLst>
          </p:cNvPr>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3159359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4EEAF-529B-F44D-DE7E-69178FD48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E6C47-6AC0-0168-7C76-8718FA949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6F031-CD5F-CD58-2E1E-E9218BB3E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699D8A-E88E-DE52-C040-09F3B9BD4CF3}"/>
              </a:ext>
            </a:extLst>
          </p:cNvPr>
          <p:cNvSpPr>
            <a:spLocks noGrp="1"/>
          </p:cNvSpPr>
          <p:nvPr>
            <p:ph type="sldNum" sz="quarter" idx="5"/>
          </p:nvPr>
        </p:nvSpPr>
        <p:spPr/>
        <p:txBody>
          <a:bodyPr/>
          <a:lstStyle/>
          <a:p>
            <a:fld id="{BE60DC36-8EFA-4378-9855-E019C55AC472}" type="slidenum">
              <a:rPr lang="en-US" smtClean="0"/>
              <a:t>13</a:t>
            </a:fld>
            <a:endParaRPr lang="en-US" dirty="0"/>
          </a:p>
        </p:txBody>
      </p:sp>
    </p:spTree>
    <p:extLst>
      <p:ext uri="{BB962C8B-B14F-4D97-AF65-F5344CB8AC3E}">
        <p14:creationId xmlns:p14="http://schemas.microsoft.com/office/powerpoint/2010/main" val="2242574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F05C-24CD-173D-3C43-E05D64C62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999D2-9302-F7EE-EA4D-CFE384F09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D924D-10AD-C115-B5EB-88689689A3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E0929D-F527-0E8A-CDF1-04980BEE535F}"/>
              </a:ext>
            </a:extLst>
          </p:cNvPr>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1671665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039F9-33B3-3D9F-05C1-0AEC501CD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152CA-FEC5-3FAB-2AE3-0A18F637E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EAA6D-2670-C4BC-A62B-A0ADD9867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12D868-BC47-11E0-609D-16692BA1339B}"/>
              </a:ext>
            </a:extLst>
          </p:cNvPr>
          <p:cNvSpPr>
            <a:spLocks noGrp="1"/>
          </p:cNvSpPr>
          <p:nvPr>
            <p:ph type="sldNum" sz="quarter" idx="5"/>
          </p:nvPr>
        </p:nvSpPr>
        <p:spPr/>
        <p:txBody>
          <a:bodyPr/>
          <a:lstStyle/>
          <a:p>
            <a:fld id="{BE60DC36-8EFA-4378-9855-E019C55AC472}" type="slidenum">
              <a:rPr lang="en-US" smtClean="0"/>
              <a:t>15</a:t>
            </a:fld>
            <a:endParaRPr lang="en-US" dirty="0"/>
          </a:p>
        </p:txBody>
      </p:sp>
    </p:spTree>
    <p:extLst>
      <p:ext uri="{BB962C8B-B14F-4D97-AF65-F5344CB8AC3E}">
        <p14:creationId xmlns:p14="http://schemas.microsoft.com/office/powerpoint/2010/main" val="279938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45449-3324-AF37-948B-5734BDA93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FC823-B96C-DB85-DD23-F76DD65A1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9ECC8-64E8-9F41-E347-F6CEF25A5A88}"/>
              </a:ext>
            </a:extLst>
          </p:cNvPr>
          <p:cNvSpPr>
            <a:spLocks noGrp="1"/>
          </p:cNvSpPr>
          <p:nvPr>
            <p:ph type="body" idx="1"/>
          </p:nvPr>
        </p:nvSpPr>
        <p:spPr/>
        <p:txBody>
          <a:bodyPr/>
          <a:lstStyle/>
          <a:p>
            <a:r>
              <a:rPr kumimoji="0" lang="en-US" altLang="en-US" sz="1200" i="0" u="none" strike="noStrike" cap="none" normalizeH="0" baseline="0" dirty="0">
                <a:ln>
                  <a:noFill/>
                </a:ln>
                <a:solidFill>
                  <a:srgbClr val="1F1F1F"/>
                </a:solidFill>
                <a:effectLst/>
                <a:latin typeface="Google Sans Text"/>
              </a:rPr>
              <a:t>, confirming that classification failures were typically "close calls" where the true and predicted classes received nearly equal confidence scores</a:t>
            </a:r>
            <a:endParaRPr lang="en-US" dirty="0"/>
          </a:p>
        </p:txBody>
      </p:sp>
      <p:sp>
        <p:nvSpPr>
          <p:cNvPr id="4" name="Slide Number Placeholder 3">
            <a:extLst>
              <a:ext uri="{FF2B5EF4-FFF2-40B4-BE49-F238E27FC236}">
                <a16:creationId xmlns:a16="http://schemas.microsoft.com/office/drawing/2014/main" id="{01DB24C2-FEE4-FD00-1D53-02F3A6E4B0DF}"/>
              </a:ext>
            </a:extLst>
          </p:cNvPr>
          <p:cNvSpPr>
            <a:spLocks noGrp="1"/>
          </p:cNvSpPr>
          <p:nvPr>
            <p:ph type="sldNum" sz="quarter" idx="5"/>
          </p:nvPr>
        </p:nvSpPr>
        <p:spPr/>
        <p:txBody>
          <a:bodyPr/>
          <a:lstStyle/>
          <a:p>
            <a:fld id="{BE60DC36-8EFA-4378-9855-E019C55AC472}" type="slidenum">
              <a:rPr lang="en-US" smtClean="0"/>
              <a:t>16</a:t>
            </a:fld>
            <a:endParaRPr lang="en-US" dirty="0"/>
          </a:p>
        </p:txBody>
      </p:sp>
    </p:spTree>
    <p:extLst>
      <p:ext uri="{BB962C8B-B14F-4D97-AF65-F5344CB8AC3E}">
        <p14:creationId xmlns:p14="http://schemas.microsoft.com/office/powerpoint/2010/main" val="2033447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B576C-CD3D-C11C-DB9C-C7C6A1919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470E4-91F5-824B-42DF-758C139C3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55039-6C9C-EE78-777B-CBD6C1C3CA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9E879-71E8-524D-AEFC-6DE5425F23DC}"/>
              </a:ext>
            </a:extLst>
          </p:cNvPr>
          <p:cNvSpPr>
            <a:spLocks noGrp="1"/>
          </p:cNvSpPr>
          <p:nvPr>
            <p:ph type="sldNum" sz="quarter" idx="5"/>
          </p:nvPr>
        </p:nvSpPr>
        <p:spPr/>
        <p:txBody>
          <a:bodyPr/>
          <a:lstStyle/>
          <a:p>
            <a:fld id="{BE60DC36-8EFA-4378-9855-E019C55AC472}" type="slidenum">
              <a:rPr lang="en-US" smtClean="0"/>
              <a:t>17</a:t>
            </a:fld>
            <a:endParaRPr lang="en-US" dirty="0"/>
          </a:p>
        </p:txBody>
      </p:sp>
    </p:spTree>
    <p:extLst>
      <p:ext uri="{BB962C8B-B14F-4D97-AF65-F5344CB8AC3E}">
        <p14:creationId xmlns:p14="http://schemas.microsoft.com/office/powerpoint/2010/main" val="1435142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69CD1-0BF1-2DC4-A478-AD77387EF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5C033-7C19-0D2A-0EFE-335F0504E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856E0-1484-B317-0036-681FC3290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33D835-BA41-BEAB-FBCF-0B128A6725D0}"/>
              </a:ext>
            </a:extLst>
          </p:cNvPr>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1069094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DAD9F-5711-1ACC-CA05-851E8AB3D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3BEC6-E76A-D595-0EA0-548F343C5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D1AA0-FD53-0D26-7296-0F9398E1AD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BEA50-7A67-297D-0E5C-57063F9E8B3D}"/>
              </a:ext>
            </a:extLst>
          </p:cNvPr>
          <p:cNvSpPr>
            <a:spLocks noGrp="1"/>
          </p:cNvSpPr>
          <p:nvPr>
            <p:ph type="sldNum" sz="quarter" idx="5"/>
          </p:nvPr>
        </p:nvSpPr>
        <p:spPr/>
        <p:txBody>
          <a:bodyPr/>
          <a:lstStyle/>
          <a:p>
            <a:fld id="{BE60DC36-8EFA-4378-9855-E019C55AC472}" type="slidenum">
              <a:rPr lang="en-US" smtClean="0"/>
              <a:t>20</a:t>
            </a:fld>
            <a:endParaRPr lang="en-US" dirty="0"/>
          </a:p>
        </p:txBody>
      </p:sp>
    </p:spTree>
    <p:extLst>
      <p:ext uri="{BB962C8B-B14F-4D97-AF65-F5344CB8AC3E}">
        <p14:creationId xmlns:p14="http://schemas.microsoft.com/office/powerpoint/2010/main" val="1007058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80FE9-45C8-78EE-DE87-EA5175041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04C17-D253-81B0-8E2E-5A13C35DEE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CFF2F-A3B2-812E-FA6E-D0F9F6F26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1BF9FD-830C-6554-DD67-7D845596DF12}"/>
              </a:ext>
            </a:extLst>
          </p:cNvPr>
          <p:cNvSpPr>
            <a:spLocks noGrp="1"/>
          </p:cNvSpPr>
          <p:nvPr>
            <p:ph type="sldNum" sz="quarter" idx="5"/>
          </p:nvPr>
        </p:nvSpPr>
        <p:spPr/>
        <p:txBody>
          <a:bodyPr/>
          <a:lstStyle/>
          <a:p>
            <a:fld id="{BE60DC36-8EFA-4378-9855-E019C55AC472}" type="slidenum">
              <a:rPr lang="en-US" smtClean="0"/>
              <a:t>21</a:t>
            </a:fld>
            <a:endParaRPr lang="en-US" dirty="0"/>
          </a:p>
        </p:txBody>
      </p:sp>
    </p:spTree>
    <p:extLst>
      <p:ext uri="{BB962C8B-B14F-4D97-AF65-F5344CB8AC3E}">
        <p14:creationId xmlns:p14="http://schemas.microsoft.com/office/powerpoint/2010/main" val="1076745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F3256-73DC-3ACC-CEE6-EAA4740F7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1F8CC-BEE7-2309-FBE7-79B1F3FF9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531E82-8BD0-C62D-C96A-EA2F687A7D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0410C-93BF-26FC-1D22-3764CC2A4E51}"/>
              </a:ext>
            </a:extLst>
          </p:cNvPr>
          <p:cNvSpPr>
            <a:spLocks noGrp="1"/>
          </p:cNvSpPr>
          <p:nvPr>
            <p:ph type="sldNum" sz="quarter" idx="5"/>
          </p:nvPr>
        </p:nvSpPr>
        <p:spPr/>
        <p:txBody>
          <a:bodyPr/>
          <a:lstStyle/>
          <a:p>
            <a:fld id="{BE60DC36-8EFA-4378-9855-E019C55AC472}" type="slidenum">
              <a:rPr lang="en-US" smtClean="0"/>
              <a:t>22</a:t>
            </a:fld>
            <a:endParaRPr lang="en-US" dirty="0"/>
          </a:p>
        </p:txBody>
      </p:sp>
    </p:spTree>
    <p:extLst>
      <p:ext uri="{BB962C8B-B14F-4D97-AF65-F5344CB8AC3E}">
        <p14:creationId xmlns:p14="http://schemas.microsoft.com/office/powerpoint/2010/main" val="3164110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2363D-1E34-9F6F-2555-206753B3C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14871-DCC1-770F-87EC-DB6ABB831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CA4C2-6845-008E-FC8F-0F64707BF8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22B10-F22E-6B58-7C39-F172CC7D19EC}"/>
              </a:ext>
            </a:extLst>
          </p:cNvPr>
          <p:cNvSpPr>
            <a:spLocks noGrp="1"/>
          </p:cNvSpPr>
          <p:nvPr>
            <p:ph type="sldNum" sz="quarter" idx="5"/>
          </p:nvPr>
        </p:nvSpPr>
        <p:spPr/>
        <p:txBody>
          <a:bodyPr/>
          <a:lstStyle/>
          <a:p>
            <a:fld id="{BE60DC36-8EFA-4378-9855-E019C55AC472}" type="slidenum">
              <a:rPr lang="en-US" smtClean="0"/>
              <a:t>23</a:t>
            </a:fld>
            <a:endParaRPr lang="en-US" dirty="0"/>
          </a:p>
        </p:txBody>
      </p:sp>
    </p:spTree>
    <p:extLst>
      <p:ext uri="{BB962C8B-B14F-4D97-AF65-F5344CB8AC3E}">
        <p14:creationId xmlns:p14="http://schemas.microsoft.com/office/powerpoint/2010/main" val="1507459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41E3F-994C-78AB-12E6-815562B33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C5311-C8B0-AD31-356C-EF224A1A6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73CDF7-9287-1046-A74C-0F71A91D3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F4E2D1-CB6C-5603-1CD8-9276A6C27124}"/>
              </a:ext>
            </a:extLst>
          </p:cNvPr>
          <p:cNvSpPr>
            <a:spLocks noGrp="1"/>
          </p:cNvSpPr>
          <p:nvPr>
            <p:ph type="sldNum" sz="quarter" idx="5"/>
          </p:nvPr>
        </p:nvSpPr>
        <p:spPr/>
        <p:txBody>
          <a:bodyPr/>
          <a:lstStyle/>
          <a:p>
            <a:fld id="{BE60DC36-8EFA-4378-9855-E019C55AC472}" type="slidenum">
              <a:rPr lang="en-US" smtClean="0"/>
              <a:t>24</a:t>
            </a:fld>
            <a:endParaRPr lang="en-US" dirty="0"/>
          </a:p>
        </p:txBody>
      </p:sp>
    </p:spTree>
    <p:extLst>
      <p:ext uri="{BB962C8B-B14F-4D97-AF65-F5344CB8AC3E}">
        <p14:creationId xmlns:p14="http://schemas.microsoft.com/office/powerpoint/2010/main" val="1704377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8CC08-5B8A-733E-13AB-30018AE45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2AAD7-87A3-F6E7-B016-C86B4BADA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25AB5-3683-B2CE-BC98-421D1779B8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A445E9-93F5-8BA0-B3BD-94588514BE72}"/>
              </a:ext>
            </a:extLst>
          </p:cNvPr>
          <p:cNvSpPr>
            <a:spLocks noGrp="1"/>
          </p:cNvSpPr>
          <p:nvPr>
            <p:ph type="sldNum" sz="quarter" idx="5"/>
          </p:nvPr>
        </p:nvSpPr>
        <p:spPr/>
        <p:txBody>
          <a:bodyPr/>
          <a:lstStyle/>
          <a:p>
            <a:fld id="{BE60DC36-8EFA-4378-9855-E019C55AC472}" type="slidenum">
              <a:rPr lang="en-US" smtClean="0"/>
              <a:t>25</a:t>
            </a:fld>
            <a:endParaRPr lang="en-US" dirty="0"/>
          </a:p>
        </p:txBody>
      </p:sp>
    </p:spTree>
    <p:extLst>
      <p:ext uri="{BB962C8B-B14F-4D97-AF65-F5344CB8AC3E}">
        <p14:creationId xmlns:p14="http://schemas.microsoft.com/office/powerpoint/2010/main" val="1612298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32415-EBAB-5A95-3839-F6CF283A6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2C25A-8C11-971A-AB98-DEE0C42F9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6A97C-B013-B4F7-895E-648351893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574E3-739C-A03E-D13F-3CA1B1E19325}"/>
              </a:ext>
            </a:extLst>
          </p:cNvPr>
          <p:cNvSpPr>
            <a:spLocks noGrp="1"/>
          </p:cNvSpPr>
          <p:nvPr>
            <p:ph type="sldNum" sz="quarter" idx="5"/>
          </p:nvPr>
        </p:nvSpPr>
        <p:spPr/>
        <p:txBody>
          <a:bodyPr/>
          <a:lstStyle/>
          <a:p>
            <a:fld id="{BE60DC36-8EFA-4378-9855-E019C55AC472}" type="slidenum">
              <a:rPr lang="en-US" smtClean="0"/>
              <a:t>26</a:t>
            </a:fld>
            <a:endParaRPr lang="en-US" dirty="0"/>
          </a:p>
        </p:txBody>
      </p:sp>
    </p:spTree>
    <p:extLst>
      <p:ext uri="{BB962C8B-B14F-4D97-AF65-F5344CB8AC3E}">
        <p14:creationId xmlns:p14="http://schemas.microsoft.com/office/powerpoint/2010/main" val="1790306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EB7A9-E7EF-E92D-75FE-CAE097FFD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6B6AC-BED0-1C84-B8F8-47CFAB43C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4562F7-D81C-61CE-68CC-FAA2065243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9D23B1-B6E8-F425-E800-C7D60813EA28}"/>
              </a:ext>
            </a:extLst>
          </p:cNvPr>
          <p:cNvSpPr>
            <a:spLocks noGrp="1"/>
          </p:cNvSpPr>
          <p:nvPr>
            <p:ph type="sldNum" sz="quarter" idx="5"/>
          </p:nvPr>
        </p:nvSpPr>
        <p:spPr/>
        <p:txBody>
          <a:bodyPr/>
          <a:lstStyle/>
          <a:p>
            <a:fld id="{BE60DC36-8EFA-4378-9855-E019C55AC472}" type="slidenum">
              <a:rPr lang="en-US" smtClean="0"/>
              <a:t>27</a:t>
            </a:fld>
            <a:endParaRPr lang="en-US" dirty="0"/>
          </a:p>
        </p:txBody>
      </p:sp>
    </p:spTree>
    <p:extLst>
      <p:ext uri="{BB962C8B-B14F-4D97-AF65-F5344CB8AC3E}">
        <p14:creationId xmlns:p14="http://schemas.microsoft.com/office/powerpoint/2010/main" val="190522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29</a:t>
            </a:fld>
            <a:endParaRPr lang="en-US" dirty="0"/>
          </a:p>
        </p:txBody>
      </p:sp>
    </p:spTree>
    <p:extLst>
      <p:ext uri="{BB962C8B-B14F-4D97-AF65-F5344CB8AC3E}">
        <p14:creationId xmlns:p14="http://schemas.microsoft.com/office/powerpoint/2010/main" val="4085712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31</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0E96D9DE-0F88-44BC-8FF2-F5774766FCB7}" type="datetime1">
              <a:rPr lang="en-US" smtClean="0"/>
              <a:t>12/15/2025</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FB44D25E-8736-4BEE-97FC-E0F704AA9250}" type="datetime1">
              <a:rPr lang="en-US" smtClean="0"/>
              <a:t>12/15/2025</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D5777D4F-E64B-4EF3-BE94-EC00B0218224}" type="datetime1">
              <a:rPr lang="en-US" smtClean="0"/>
              <a:t>12/15/2025</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731FB8E2-4037-4429-A8EF-AF6ABC354904}" type="datetime1">
              <a:rPr lang="en-US" smtClean="0"/>
              <a:t>12/15/2025</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E996BD36-8838-4322-B810-D24D1AB08FA6}" type="datetime1">
              <a:rPr lang="en-US" smtClean="0"/>
              <a:t>12/15/2025</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6C6ED4B8-C447-4E4D-92F5-78228007A7FF}" type="datetime1">
              <a:rPr lang="en-US" smtClean="0"/>
              <a:t>12/15/2025</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DF315540-2753-4AA2-B12F-6047C299B30D}" type="datetime1">
              <a:rPr lang="en-US" smtClean="0"/>
              <a:t>12/15/2025</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301D5096-71BA-48EF-94F5-D06C0E0C481C}" type="datetime1">
              <a:rPr lang="en-US" smtClean="0"/>
              <a:t>12/15/2025</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91BD2309-77E0-4A2B-9128-F21B1833D633}" type="datetime1">
              <a:rPr lang="en-US" smtClean="0"/>
              <a:t>12/15/2025</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B9C4ED91-304F-4C7B-B261-91821B250AA5}" type="datetime1">
              <a:rPr lang="en-US" smtClean="0"/>
              <a:t>12/15/2025</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C3453C1D-0452-4433-8309-56D6B8340D9D}" type="datetime1">
              <a:rPr lang="en-US" smtClean="0"/>
              <a:t>12/15/2025</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D50992-A763-4DC3-8A2F-46680BC700E3}" type="datetime1">
              <a:rPr lang="en-US" smtClean="0"/>
              <a:t>12/15/2025</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2855980" y="4087259"/>
            <a:ext cx="6367315" cy="1107996"/>
          </a:xfrm>
        </p:spPr>
        <p:txBody>
          <a:bodyPr wrap="square" lIns="0" tIns="0" rIns="0" bIns="0" anchor="t">
            <a:spAutoFit/>
          </a:bodyPr>
          <a:lstStyle/>
          <a:p>
            <a:r>
              <a:rPr lang="en-US" sz="4000" b="1" dirty="0">
                <a:solidFill>
                  <a:schemeClr val="bg1"/>
                </a:solidFill>
              </a:rPr>
              <a:t>Data Mining and Machine Learning project</a:t>
            </a:r>
            <a:endParaRPr lang="en-US" sz="4000"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43164" y="-2041532"/>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1" y="3788228"/>
            <a:ext cx="419150" cy="299031"/>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 name="Title 1">
            <a:extLst>
              <a:ext uri="{FF2B5EF4-FFF2-40B4-BE49-F238E27FC236}">
                <a16:creationId xmlns:a16="http://schemas.microsoft.com/office/drawing/2014/main" id="{491E938D-200F-074A-075D-FB86E26123BD}"/>
              </a:ext>
            </a:extLst>
          </p:cNvPr>
          <p:cNvSpPr txBox="1">
            <a:spLocks/>
          </p:cNvSpPr>
          <p:nvPr/>
        </p:nvSpPr>
        <p:spPr>
          <a:xfrm>
            <a:off x="8612155" y="5801368"/>
            <a:ext cx="3322426" cy="664797"/>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t-IT" sz="1600" dirty="0">
                <a:solidFill>
                  <a:schemeClr val="bg1"/>
                </a:solidFill>
              </a:rPr>
              <a:t>Presented by:</a:t>
            </a:r>
            <a:br>
              <a:rPr lang="it-IT" sz="1600" dirty="0">
                <a:solidFill>
                  <a:schemeClr val="bg1"/>
                </a:solidFill>
              </a:rPr>
            </a:br>
            <a:r>
              <a:rPr lang="it-IT" sz="1600" dirty="0">
                <a:solidFill>
                  <a:schemeClr val="bg1"/>
                </a:solidFill>
              </a:rPr>
              <a:t>Souha Aouididi</a:t>
            </a:r>
          </a:p>
          <a:p>
            <a:r>
              <a:rPr lang="it-IT" sz="1600" dirty="0">
                <a:solidFill>
                  <a:schemeClr val="bg1"/>
                </a:solidFill>
              </a:rPr>
              <a:t>Lorenzo Bove</a:t>
            </a:r>
          </a:p>
        </p:txBody>
      </p:sp>
      <p:sp>
        <p:nvSpPr>
          <p:cNvPr id="6" name="Title 1">
            <a:extLst>
              <a:ext uri="{FF2B5EF4-FFF2-40B4-BE49-F238E27FC236}">
                <a16:creationId xmlns:a16="http://schemas.microsoft.com/office/drawing/2014/main" id="{CE470F2B-F41B-9364-B019-A040A4D60ED2}"/>
              </a:ext>
            </a:extLst>
          </p:cNvPr>
          <p:cNvSpPr txBox="1">
            <a:spLocks/>
          </p:cNvSpPr>
          <p:nvPr/>
        </p:nvSpPr>
        <p:spPr>
          <a:xfrm>
            <a:off x="152400" y="5801368"/>
            <a:ext cx="3322426" cy="886397"/>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t-IT" sz="1600" dirty="0">
                <a:solidFill>
                  <a:schemeClr val="bg1"/>
                </a:solidFill>
              </a:rPr>
              <a:t>Professors: </a:t>
            </a:r>
          </a:p>
          <a:p>
            <a:r>
              <a:rPr lang="it-IT" sz="1600" dirty="0">
                <a:solidFill>
                  <a:schemeClr val="bg1"/>
                </a:solidFill>
              </a:rPr>
              <a:t>Prof.ssa Roberta Siciliano</a:t>
            </a:r>
          </a:p>
          <a:p>
            <a:r>
              <a:rPr lang="it-IT" sz="1600" dirty="0">
                <a:solidFill>
                  <a:schemeClr val="bg1"/>
                </a:solidFill>
              </a:rPr>
              <a:t> Prof. Giuseppe Longo </a:t>
            </a:r>
          </a:p>
          <a:p>
            <a:r>
              <a:rPr lang="it-IT" sz="1600" dirty="0">
                <a:solidFill>
                  <a:schemeClr val="bg1"/>
                </a:solidFill>
              </a:rPr>
              <a:t>Prof. Andrea Apicella </a:t>
            </a:r>
            <a:endParaRPr lang="en-US" sz="1600" dirty="0">
              <a:solidFill>
                <a:schemeClr val="bg1"/>
              </a:solidFill>
            </a:endParaRPr>
          </a:p>
        </p:txBody>
      </p:sp>
      <p:sp>
        <p:nvSpPr>
          <p:cNvPr id="11" name="TextBox 10">
            <a:extLst>
              <a:ext uri="{FF2B5EF4-FFF2-40B4-BE49-F238E27FC236}">
                <a16:creationId xmlns:a16="http://schemas.microsoft.com/office/drawing/2014/main" id="{D6EF4328-DF44-4209-C3CC-115736C4847F}"/>
              </a:ext>
            </a:extLst>
          </p:cNvPr>
          <p:cNvSpPr txBox="1"/>
          <p:nvPr/>
        </p:nvSpPr>
        <p:spPr>
          <a:xfrm>
            <a:off x="3098775" y="2009914"/>
            <a:ext cx="5923642" cy="923330"/>
          </a:xfrm>
          <a:prstGeom prst="rect">
            <a:avLst/>
          </a:prstGeom>
          <a:noFill/>
        </p:spPr>
        <p:txBody>
          <a:bodyPr wrap="square" rtlCol="0">
            <a:spAutoFit/>
          </a:bodyPr>
          <a:lstStyle/>
          <a:p>
            <a:pPr algn="ctr"/>
            <a:r>
              <a:rPr lang="it-IT" dirty="0">
                <a:solidFill>
                  <a:schemeClr val="bg1"/>
                </a:solidFill>
              </a:rPr>
              <a:t>Universita degli Studi di Napoli Federico II </a:t>
            </a:r>
            <a:br>
              <a:rPr lang="it-IT" dirty="0">
                <a:solidFill>
                  <a:schemeClr val="bg1"/>
                </a:solidFill>
              </a:rPr>
            </a:br>
            <a:r>
              <a:rPr lang="it-IT" dirty="0">
                <a:solidFill>
                  <a:schemeClr val="bg1"/>
                </a:solidFill>
              </a:rPr>
              <a:t>Dipartimento di Ingegneria Elettrica e delle Tecnologie dell’Informazione </a:t>
            </a:r>
            <a:endParaRPr lang="en-GB" dirty="0">
              <a:solidFill>
                <a:schemeClr val="bg1"/>
              </a:solidFill>
            </a:endParaRPr>
          </a:p>
        </p:txBody>
      </p:sp>
      <p:sp>
        <p:nvSpPr>
          <p:cNvPr id="12" name="TextBox 11">
            <a:extLst>
              <a:ext uri="{FF2B5EF4-FFF2-40B4-BE49-F238E27FC236}">
                <a16:creationId xmlns:a16="http://schemas.microsoft.com/office/drawing/2014/main" id="{66FF3C57-6740-DF8E-2D95-1A2ABFAACBCD}"/>
              </a:ext>
            </a:extLst>
          </p:cNvPr>
          <p:cNvSpPr txBox="1"/>
          <p:nvPr/>
        </p:nvSpPr>
        <p:spPr>
          <a:xfrm>
            <a:off x="4497411" y="3096802"/>
            <a:ext cx="3152017" cy="369332"/>
          </a:xfrm>
          <a:prstGeom prst="rect">
            <a:avLst/>
          </a:prstGeom>
          <a:noFill/>
        </p:spPr>
        <p:txBody>
          <a:bodyPr wrap="none" rtlCol="0">
            <a:spAutoFit/>
          </a:bodyPr>
          <a:lstStyle/>
          <a:p>
            <a:r>
              <a:rPr lang="en-GB" dirty="0">
                <a:solidFill>
                  <a:schemeClr val="bg1"/>
                </a:solidFill>
              </a:rPr>
              <a:t>Master Degree in Data Science</a:t>
            </a:r>
          </a:p>
        </p:txBody>
      </p:sp>
      <p:pic>
        <p:nvPicPr>
          <p:cNvPr id="14" name="Picture 13" descr="A white circle with a black background&#10;&#10;AI-generated content may be incorrect.">
            <a:extLst>
              <a:ext uri="{FF2B5EF4-FFF2-40B4-BE49-F238E27FC236}">
                <a16:creationId xmlns:a16="http://schemas.microsoft.com/office/drawing/2014/main" id="{5D7D7BBD-02AF-43CE-8229-F0F38B8FA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3368" y="198664"/>
            <a:ext cx="1606219" cy="1606219"/>
          </a:xfrm>
          <a:prstGeom prst="rect">
            <a:avLst/>
          </a:prstGeom>
        </p:spPr>
      </p:pic>
      <p:sp>
        <p:nvSpPr>
          <p:cNvPr id="13" name="Slide Number Placeholder 12">
            <a:extLst>
              <a:ext uri="{FF2B5EF4-FFF2-40B4-BE49-F238E27FC236}">
                <a16:creationId xmlns:a16="http://schemas.microsoft.com/office/drawing/2014/main" id="{97DFFDDD-CB85-C48D-47F1-F3AC88974D8B}"/>
              </a:ext>
            </a:extLst>
          </p:cNvPr>
          <p:cNvSpPr>
            <a:spLocks noGrp="1"/>
          </p:cNvSpPr>
          <p:nvPr>
            <p:ph type="sldNum" sz="quarter" idx="12"/>
          </p:nvPr>
        </p:nvSpPr>
        <p:spPr/>
        <p:txBody>
          <a:bodyPr/>
          <a:lstStyle/>
          <a:p>
            <a:fld id="{06FEDF93-2BFD-41CA-ABC7-B039102F3792}" type="slidenum">
              <a:rPr lang="en-US" smtClean="0"/>
              <a:t>1</a:t>
            </a:fld>
            <a:endParaRPr lang="en-US" dirty="0"/>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Summary</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5271941" y="2771440"/>
            <a:ext cx="1695450" cy="16954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PROJECT</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7026855" y="1660986"/>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Exploratory Data Analysis</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743308" y="156573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8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Convolutional Neural</a:t>
            </a:r>
          </a:p>
          <a:p>
            <a:pPr algn="ctr"/>
            <a:r>
              <a:rPr lang="en-US" dirty="0"/>
              <a:t> Network Model</a:t>
            </a:r>
          </a:p>
          <a:p>
            <a:pPr algn="ctr"/>
            <a:endParaRPr lang="en-US" sz="1600" dirty="0"/>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7129621" y="5145262"/>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Conclusion</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Context of the project</a:t>
            </a:r>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Support Vector </a:t>
            </a:r>
          </a:p>
          <a:p>
            <a:pPr algn="ctr"/>
            <a:r>
              <a:rPr lang="en-US" sz="1600" dirty="0"/>
              <a:t>Machine Model</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3966360" y="3473559"/>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7026855" y="1847707"/>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 name="Group 1" descr="Icon of gears. ">
            <a:extLst>
              <a:ext uri="{FF2B5EF4-FFF2-40B4-BE49-F238E27FC236}">
                <a16:creationId xmlns:a16="http://schemas.microsoft.com/office/drawing/2014/main" id="{043C00EB-9751-1040-5537-5285D6CF7E7E}"/>
              </a:ext>
            </a:extLst>
          </p:cNvPr>
          <p:cNvGrpSpPr/>
          <p:nvPr/>
        </p:nvGrpSpPr>
        <p:grpSpPr>
          <a:xfrm>
            <a:off x="7155695" y="5353557"/>
            <a:ext cx="287030" cy="313103"/>
            <a:chOff x="8523060" y="2585618"/>
            <a:chExt cx="237215" cy="258763"/>
          </a:xfrm>
          <a:solidFill>
            <a:schemeClr val="bg1"/>
          </a:solidFill>
        </p:grpSpPr>
        <p:sp>
          <p:nvSpPr>
            <p:cNvPr id="3" name="Freeform 4359">
              <a:extLst>
                <a:ext uri="{FF2B5EF4-FFF2-40B4-BE49-F238E27FC236}">
                  <a16:creationId xmlns:a16="http://schemas.microsoft.com/office/drawing/2014/main" id="{EFE56FB7-22BA-9A44-408F-CE39457EDFA7}"/>
                </a:ext>
              </a:extLst>
            </p:cNvPr>
            <p:cNvSpPr>
              <a:spLocks noEditPoints="1"/>
            </p:cNvSpPr>
            <p:nvPr/>
          </p:nvSpPr>
          <p:spPr bwMode="auto">
            <a:xfrm>
              <a:off x="8523060" y="2644356"/>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 name="Freeform 4360">
              <a:extLst>
                <a:ext uri="{FF2B5EF4-FFF2-40B4-BE49-F238E27FC236}">
                  <a16:creationId xmlns:a16="http://schemas.microsoft.com/office/drawing/2014/main" id="{143B8ECA-FC4E-84E6-F814-A83531985D0B}"/>
                </a:ext>
              </a:extLst>
            </p:cNvPr>
            <p:cNvSpPr>
              <a:spLocks noEditPoints="1"/>
            </p:cNvSpPr>
            <p:nvPr/>
          </p:nvSpPr>
          <p:spPr bwMode="auto">
            <a:xfrm>
              <a:off x="8644387" y="2585618"/>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 name="Freeform 1676" descr="Icon of check box. ">
            <a:extLst>
              <a:ext uri="{FF2B5EF4-FFF2-40B4-BE49-F238E27FC236}">
                <a16:creationId xmlns:a16="http://schemas.microsoft.com/office/drawing/2014/main" id="{382DEA4F-AE6C-2276-52D2-3D4E6AD824ED}"/>
              </a:ext>
            </a:extLst>
          </p:cNvPr>
          <p:cNvSpPr>
            <a:spLocks noEditPoints="1"/>
          </p:cNvSpPr>
          <p:nvPr/>
        </p:nvSpPr>
        <p:spPr bwMode="auto">
          <a:xfrm>
            <a:off x="4715661" y="1804654"/>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Slide Number Placeholder 9">
            <a:extLst>
              <a:ext uri="{FF2B5EF4-FFF2-40B4-BE49-F238E27FC236}">
                <a16:creationId xmlns:a16="http://schemas.microsoft.com/office/drawing/2014/main" id="{F4F4FF3C-619B-CB3B-7308-FCBB7FEE2B47}"/>
              </a:ext>
            </a:extLst>
          </p:cNvPr>
          <p:cNvSpPr>
            <a:spLocks noGrp="1"/>
          </p:cNvSpPr>
          <p:nvPr>
            <p:ph type="sldNum" sz="quarter" idx="12"/>
          </p:nvPr>
        </p:nvSpPr>
        <p:spPr/>
        <p:txBody>
          <a:bodyPr/>
          <a:lstStyle/>
          <a:p>
            <a:fld id="{06FEDF93-2BFD-41CA-ABC7-B039102F3792}" type="slidenum">
              <a:rPr lang="en-US" smtClean="0"/>
              <a:t>2</a:t>
            </a:fld>
            <a:endParaRPr lang="en-U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7AEB8E-5DA7-DE36-D034-B39B9CB7AA30}"/>
              </a:ext>
            </a:extLst>
          </p:cNvPr>
          <p:cNvSpPr>
            <a:spLocks noGrp="1"/>
          </p:cNvSpPr>
          <p:nvPr>
            <p:ph type="ctrTitle"/>
          </p:nvPr>
        </p:nvSpPr>
        <p:spPr>
          <a:xfrm>
            <a:off x="638882" y="3577456"/>
            <a:ext cx="10909640" cy="1687814"/>
          </a:xfrm>
        </p:spPr>
        <p:txBody>
          <a:bodyPr anchor="b">
            <a:normAutofit/>
          </a:bodyPr>
          <a:lstStyle/>
          <a:p>
            <a:r>
              <a:rPr lang="en-GB" sz="6600"/>
              <a:t>1. Context of the project</a:t>
            </a:r>
          </a:p>
        </p:txBody>
      </p:sp>
      <p:pic>
        <p:nvPicPr>
          <p:cNvPr id="4" name="Picture 3" descr="A blue brain with black lines and dots&#10;&#10;AI-generated content may be incorrect.">
            <a:extLst>
              <a:ext uri="{FF2B5EF4-FFF2-40B4-BE49-F238E27FC236}">
                <a16:creationId xmlns:a16="http://schemas.microsoft.com/office/drawing/2014/main" id="{4544FF07-FE59-118F-9083-672FF19B4D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1562" y="591670"/>
            <a:ext cx="5324279" cy="2742004"/>
          </a:xfrm>
          <a:prstGeom prst="rect">
            <a:avLst/>
          </a:prstGeom>
        </p:spPr>
      </p:pic>
      <p:sp>
        <p:nvSpPr>
          <p:cNvPr id="11"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1407F6C2-D871-DC87-EE8D-4D1995879FE7}"/>
              </a:ext>
            </a:extLst>
          </p:cNvPr>
          <p:cNvSpPr>
            <a:spLocks noGrp="1"/>
          </p:cNvSpPr>
          <p:nvPr>
            <p:ph type="sldNum" sz="quarter" idx="12"/>
          </p:nvPr>
        </p:nvSpPr>
        <p:spPr/>
        <p:txBody>
          <a:bodyPr/>
          <a:lstStyle/>
          <a:p>
            <a:fld id="{06FEDF93-2BFD-41CA-ABC7-B039102F3792}" type="slidenum">
              <a:rPr lang="en-US" smtClean="0"/>
              <a:t>3</a:t>
            </a:fld>
            <a:endParaRPr lang="en-US" dirty="0"/>
          </a:p>
        </p:txBody>
      </p:sp>
    </p:spTree>
    <p:extLst>
      <p:ext uri="{BB962C8B-B14F-4D97-AF65-F5344CB8AC3E}">
        <p14:creationId xmlns:p14="http://schemas.microsoft.com/office/powerpoint/2010/main" val="1612387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437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E00303-AC9E-9D02-0695-0F3807B4A0B3}"/>
              </a:ext>
            </a:extLst>
          </p:cNvPr>
          <p:cNvSpPr>
            <a:spLocks noGrp="1"/>
          </p:cNvSpPr>
          <p:nvPr>
            <p:ph type="title"/>
          </p:nvPr>
        </p:nvSpPr>
        <p:spPr>
          <a:xfrm>
            <a:off x="838200" y="171162"/>
            <a:ext cx="2840182" cy="2371148"/>
          </a:xfrm>
        </p:spPr>
        <p:txBody>
          <a:bodyPr vert="horz" lIns="91440" tIns="45720" rIns="91440" bIns="45720" rtlCol="0" anchor="ctr">
            <a:normAutofit/>
          </a:bodyPr>
          <a:lstStyle/>
          <a:p>
            <a:pPr algn="ctr"/>
            <a:r>
              <a:rPr lang="en-US" sz="3200" b="1" kern="1200" dirty="0">
                <a:solidFill>
                  <a:srgbClr val="FFFFFF"/>
                </a:solidFill>
                <a:latin typeface="+mj-lt"/>
                <a:ea typeface="+mj-ea"/>
                <a:cs typeface="+mj-cs"/>
              </a:rPr>
              <a:t>Data Description</a:t>
            </a:r>
          </a:p>
        </p:txBody>
      </p:sp>
      <p:sp>
        <p:nvSpPr>
          <p:cNvPr id="6" name="Rectangle 1">
            <a:extLst>
              <a:ext uri="{FF2B5EF4-FFF2-40B4-BE49-F238E27FC236}">
                <a16:creationId xmlns:a16="http://schemas.microsoft.com/office/drawing/2014/main" id="{218A0852-B46C-49AA-3D9D-1E4E4A8EE712}"/>
              </a:ext>
            </a:extLst>
          </p:cNvPr>
          <p:cNvSpPr>
            <a:spLocks noChangeArrowheads="1"/>
          </p:cNvSpPr>
          <p:nvPr/>
        </p:nvSpPr>
        <p:spPr bwMode="auto">
          <a:xfrm>
            <a:off x="4366726" y="1738432"/>
            <a:ext cx="649410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1F1F"/>
                </a:solidFill>
                <a:effectLst/>
                <a:latin typeface="Google Sans Text"/>
              </a:rPr>
              <a:t>The dataset we utilized for the project is the </a:t>
            </a:r>
            <a:r>
              <a:rPr kumimoji="0" lang="en-US" altLang="en-US" sz="2400" i="0" u="none" strike="noStrike" cap="none" normalizeH="0" baseline="0" dirty="0">
                <a:ln>
                  <a:noFill/>
                </a:ln>
                <a:solidFill>
                  <a:srgbClr val="1F1F1F"/>
                </a:solidFill>
                <a:effectLst/>
                <a:latin typeface="Google Sans Text"/>
              </a:rPr>
              <a:t>Real-world Affective Faces Database (RAF-DB), </a:t>
            </a:r>
            <a:r>
              <a:rPr kumimoji="0" lang="en-US" altLang="en-US" sz="2400" b="0" i="0" u="none" strike="noStrike" cap="none" normalizeH="0" baseline="0" dirty="0">
                <a:ln>
                  <a:noFill/>
                </a:ln>
                <a:solidFill>
                  <a:srgbClr val="1F1F1F"/>
                </a:solidFill>
                <a:effectLst/>
                <a:latin typeface="Google Sans Text"/>
              </a:rPr>
              <a:t>which contains over 15000 cropped facial images. This is a challenging "real-world" dataset because the images feature great variability in subjects, head poses, lighting, and occlusions (like glasses). Every image is tagged with one of seven primary emotion classes: </a:t>
            </a:r>
            <a:r>
              <a:rPr kumimoji="0" lang="en-US" altLang="en-US" sz="2400" b="1" i="0" u="none" strike="noStrike" cap="none" normalizeH="0" baseline="0" dirty="0">
                <a:ln>
                  <a:noFill/>
                </a:ln>
                <a:solidFill>
                  <a:srgbClr val="1F1F1F"/>
                </a:solidFill>
                <a:effectLst/>
                <a:latin typeface="Google Sans Text"/>
              </a:rPr>
              <a:t>Surprise, Fear, Disgust, Happy, Sad, Angry, or Neutral</a:t>
            </a:r>
            <a:r>
              <a:rPr kumimoji="0" lang="en-US" altLang="en-US" sz="2400" b="0" i="0" u="none" strike="noStrike" cap="none" normalizeH="0" baseline="0" dirty="0">
                <a:ln>
                  <a:noFill/>
                </a:ln>
                <a:solidFill>
                  <a:srgbClr val="1F1F1F"/>
                </a:solidFill>
                <a:effectLst/>
                <a:latin typeface="Google Sans Text"/>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1D8B4021-7391-8156-0DA9-6A010F16CCB1}"/>
              </a:ext>
            </a:extLst>
          </p:cNvPr>
          <p:cNvSpPr>
            <a:spLocks noGrp="1"/>
          </p:cNvSpPr>
          <p:nvPr>
            <p:ph type="sldNum" sz="quarter" idx="12"/>
          </p:nvPr>
        </p:nvSpPr>
        <p:spPr/>
        <p:txBody>
          <a:bodyPr/>
          <a:lstStyle/>
          <a:p>
            <a:fld id="{06FEDF93-2BFD-41CA-ABC7-B039102F3792}" type="slidenum">
              <a:rPr lang="en-US" smtClean="0"/>
              <a:t>4</a:t>
            </a:fld>
            <a:endParaRPr lang="en-US" dirty="0"/>
          </a:p>
        </p:txBody>
      </p:sp>
    </p:spTree>
    <p:extLst>
      <p:ext uri="{BB962C8B-B14F-4D97-AF65-F5344CB8AC3E}">
        <p14:creationId xmlns:p14="http://schemas.microsoft.com/office/powerpoint/2010/main" val="1389092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E16099-2E18-7AAC-28AF-C9F9FD59A42E}"/>
            </a:ext>
          </a:extLst>
        </p:cNvPr>
        <p:cNvGrpSpPr/>
        <p:nvPr/>
      </p:nvGrpSpPr>
      <p:grpSpPr>
        <a:xfrm>
          <a:off x="0" y="0"/>
          <a:ext cx="0" cy="0"/>
          <a:chOff x="0" y="0"/>
          <a:chExt cx="0" cy="0"/>
        </a:xfrm>
      </p:grpSpPr>
      <p:sp>
        <p:nvSpPr>
          <p:cNvPr id="9" name="Flowchart: Document 8">
            <a:extLst>
              <a:ext uri="{FF2B5EF4-FFF2-40B4-BE49-F238E27FC236}">
                <a16:creationId xmlns:a16="http://schemas.microsoft.com/office/drawing/2014/main" id="{9F6AE20B-FB64-7AFF-F67E-9F3CD7B3E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437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3B5467-E290-DE70-9D5E-856F88949C61}"/>
              </a:ext>
            </a:extLst>
          </p:cNvPr>
          <p:cNvSpPr>
            <a:spLocks noGrp="1"/>
          </p:cNvSpPr>
          <p:nvPr>
            <p:ph type="title"/>
          </p:nvPr>
        </p:nvSpPr>
        <p:spPr>
          <a:xfrm>
            <a:off x="838200" y="171162"/>
            <a:ext cx="2840182" cy="2371148"/>
          </a:xfrm>
        </p:spPr>
        <p:txBody>
          <a:bodyPr vert="horz" lIns="91440" tIns="45720" rIns="91440" bIns="45720" rtlCol="0" anchor="ctr">
            <a:normAutofit/>
          </a:bodyPr>
          <a:lstStyle/>
          <a:p>
            <a:pPr algn="ctr"/>
            <a:r>
              <a:rPr lang="en-US" sz="3200" b="1" kern="1200" dirty="0">
                <a:solidFill>
                  <a:srgbClr val="FFFFFF"/>
                </a:solidFill>
                <a:latin typeface="+mj-lt"/>
                <a:ea typeface="+mj-ea"/>
                <a:cs typeface="+mj-cs"/>
              </a:rPr>
              <a:t>Objective</a:t>
            </a:r>
          </a:p>
        </p:txBody>
      </p:sp>
      <p:sp>
        <p:nvSpPr>
          <p:cNvPr id="5" name="TextBox 4">
            <a:extLst>
              <a:ext uri="{FF2B5EF4-FFF2-40B4-BE49-F238E27FC236}">
                <a16:creationId xmlns:a16="http://schemas.microsoft.com/office/drawing/2014/main" id="{F117E907-21CC-7A63-245C-EE1F005D5EFF}"/>
              </a:ext>
            </a:extLst>
          </p:cNvPr>
          <p:cNvSpPr txBox="1"/>
          <p:nvPr/>
        </p:nvSpPr>
        <p:spPr>
          <a:xfrm>
            <a:off x="4086224" y="1700213"/>
            <a:ext cx="7921555" cy="4093428"/>
          </a:xfrm>
          <a:prstGeom prst="rect">
            <a:avLst/>
          </a:prstGeom>
          <a:noFill/>
        </p:spPr>
        <p:txBody>
          <a:bodyPr wrap="square">
            <a:spAutoFit/>
          </a:bodyPr>
          <a:lstStyle/>
          <a:p>
            <a:pPr>
              <a:buNone/>
            </a:pPr>
            <a:r>
              <a:rPr lang="en-US" sz="2000" dirty="0">
                <a:latin typeface="Google Sans Text"/>
              </a:rPr>
              <a:t>Our main goal is to design and test machine learning models for Facial Expression Recognition (FER) using the challenging Real-world Affective Faces Database (RAF-DB). We aim to accurately classify seven core emotions: </a:t>
            </a:r>
            <a:r>
              <a:rPr lang="en-US" sz="2000" b="1" dirty="0">
                <a:latin typeface="Google Sans Text"/>
              </a:rPr>
              <a:t>Surprise, Fear, Disgust, Happy, Sad, Angry, and Neutral</a:t>
            </a:r>
            <a:r>
              <a:rPr lang="en-US" sz="2000" dirty="0">
                <a:latin typeface="Google Sans Text"/>
              </a:rPr>
              <a:t>. We compare two core approaches:</a:t>
            </a:r>
          </a:p>
          <a:p>
            <a:pPr lvl="1"/>
            <a:r>
              <a:rPr lang="en-US" sz="2000" b="1" dirty="0">
                <a:latin typeface="Google Sans Text"/>
              </a:rPr>
              <a:t>1. Deep Learning (Custom CNN):</a:t>
            </a:r>
            <a:r>
              <a:rPr lang="en-US" sz="2000" dirty="0">
                <a:latin typeface="Google Sans Text"/>
              </a:rPr>
              <a:t> We built a Convolutional Neural Network (CNN) from scratch to automatically learn features from the raw image data.</a:t>
            </a:r>
          </a:p>
          <a:p>
            <a:pPr lvl="1"/>
            <a:r>
              <a:rPr lang="en-US" sz="2000" b="1" dirty="0">
                <a:latin typeface="Google Sans Text"/>
              </a:rPr>
              <a:t>2.Classical Machine Learning (SVM):</a:t>
            </a:r>
            <a:r>
              <a:rPr lang="en-US" sz="2000" dirty="0">
                <a:latin typeface="Google Sans Text"/>
              </a:rPr>
              <a:t> We used SVM with our extracted           features, comparing Linear, RBF, and Polynomial kernels to find the best non-linear boundary.</a:t>
            </a:r>
          </a:p>
          <a:p>
            <a:pPr>
              <a:buNone/>
            </a:pPr>
            <a:r>
              <a:rPr lang="en-US" sz="2000" dirty="0">
                <a:latin typeface="Google Sans Text"/>
              </a:rPr>
              <a:t>This project benchmarks these two methods to find the most effective model for real-world emotion classification</a:t>
            </a:r>
          </a:p>
        </p:txBody>
      </p:sp>
      <p:sp>
        <p:nvSpPr>
          <p:cNvPr id="6" name="Slide Number Placeholder 5">
            <a:extLst>
              <a:ext uri="{FF2B5EF4-FFF2-40B4-BE49-F238E27FC236}">
                <a16:creationId xmlns:a16="http://schemas.microsoft.com/office/drawing/2014/main" id="{5D28F35A-13A7-5BDC-1C2D-6AD43873C0B1}"/>
              </a:ext>
            </a:extLst>
          </p:cNvPr>
          <p:cNvSpPr>
            <a:spLocks noGrp="1"/>
          </p:cNvSpPr>
          <p:nvPr>
            <p:ph type="sldNum" sz="quarter" idx="12"/>
          </p:nvPr>
        </p:nvSpPr>
        <p:spPr/>
        <p:txBody>
          <a:bodyPr/>
          <a:lstStyle/>
          <a:p>
            <a:fld id="{06FEDF93-2BFD-41CA-ABC7-B039102F3792}" type="slidenum">
              <a:rPr lang="en-US" smtClean="0"/>
              <a:t>5</a:t>
            </a:fld>
            <a:endParaRPr lang="en-US" dirty="0"/>
          </a:p>
        </p:txBody>
      </p:sp>
    </p:spTree>
    <p:extLst>
      <p:ext uri="{BB962C8B-B14F-4D97-AF65-F5344CB8AC3E}">
        <p14:creationId xmlns:p14="http://schemas.microsoft.com/office/powerpoint/2010/main" val="3830047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90F221-7C9C-AE5C-AC68-01351B11E75F}"/>
            </a:ext>
          </a:extLst>
        </p:cNvPr>
        <p:cNvGrpSpPr/>
        <p:nvPr/>
      </p:nvGrpSpPr>
      <p:grpSpPr>
        <a:xfrm>
          <a:off x="0" y="0"/>
          <a:ext cx="0" cy="0"/>
          <a:chOff x="0" y="0"/>
          <a:chExt cx="0" cy="0"/>
        </a:xfrm>
      </p:grpSpPr>
      <p:sp>
        <p:nvSpPr>
          <p:cNvPr id="9" name="Flowchart: Document 8">
            <a:extLst>
              <a:ext uri="{FF2B5EF4-FFF2-40B4-BE49-F238E27FC236}">
                <a16:creationId xmlns:a16="http://schemas.microsoft.com/office/drawing/2014/main" id="{4A357969-7123-2EF1-3063-A4A8886E9E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437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34CFEA-78D2-329E-3BE0-5FFC126F44ED}"/>
              </a:ext>
            </a:extLst>
          </p:cNvPr>
          <p:cNvSpPr>
            <a:spLocks noGrp="1"/>
          </p:cNvSpPr>
          <p:nvPr>
            <p:ph type="title"/>
          </p:nvPr>
        </p:nvSpPr>
        <p:spPr>
          <a:xfrm>
            <a:off x="838200" y="171162"/>
            <a:ext cx="2840182" cy="2371148"/>
          </a:xfrm>
        </p:spPr>
        <p:txBody>
          <a:bodyPr vert="horz" lIns="91440" tIns="45720" rIns="91440" bIns="45720" rtlCol="0" anchor="ctr">
            <a:normAutofit/>
          </a:bodyPr>
          <a:lstStyle/>
          <a:p>
            <a:pPr algn="ctr"/>
            <a:r>
              <a:rPr lang="en-US" sz="3200" b="1" kern="1200" dirty="0">
                <a:solidFill>
                  <a:srgbClr val="FFFFFF"/>
                </a:solidFill>
                <a:latin typeface="+mj-lt"/>
                <a:ea typeface="+mj-ea"/>
                <a:cs typeface="+mj-cs"/>
              </a:rPr>
              <a:t>Data Partitioning</a:t>
            </a:r>
          </a:p>
        </p:txBody>
      </p:sp>
      <p:sp>
        <p:nvSpPr>
          <p:cNvPr id="5" name="TextBox 4">
            <a:extLst>
              <a:ext uri="{FF2B5EF4-FFF2-40B4-BE49-F238E27FC236}">
                <a16:creationId xmlns:a16="http://schemas.microsoft.com/office/drawing/2014/main" id="{54AC00DF-0F46-CECC-DE6A-65EE305C9EF1}"/>
              </a:ext>
            </a:extLst>
          </p:cNvPr>
          <p:cNvSpPr txBox="1"/>
          <p:nvPr/>
        </p:nvSpPr>
        <p:spPr>
          <a:xfrm>
            <a:off x="4188861" y="1646100"/>
            <a:ext cx="7675418" cy="2031325"/>
          </a:xfrm>
          <a:prstGeom prst="rect">
            <a:avLst/>
          </a:prstGeom>
          <a:noFill/>
        </p:spPr>
        <p:txBody>
          <a:bodyPr wrap="square">
            <a:spAutoFit/>
          </a:bodyPr>
          <a:lstStyle/>
          <a:p>
            <a:pPr>
              <a:buNone/>
            </a:pPr>
            <a:r>
              <a:rPr lang="en-US" dirty="0">
                <a:latin typeface="Google Sans Text"/>
              </a:rPr>
              <a:t>The images have been partitioned as follows: </a:t>
            </a:r>
          </a:p>
          <a:p>
            <a:pPr>
              <a:buNone/>
            </a:pPr>
            <a:r>
              <a:rPr lang="en-US" dirty="0">
                <a:latin typeface="Google Sans Text"/>
              </a:rPr>
              <a:t>• Training Set: 9,816 images</a:t>
            </a:r>
          </a:p>
          <a:p>
            <a:pPr>
              <a:buNone/>
            </a:pPr>
            <a:r>
              <a:rPr lang="en-US" dirty="0">
                <a:latin typeface="Google Sans Text"/>
              </a:rPr>
              <a:t> • Validation Set: 2,455 images (created through an 80/20 stratified split of the original training data to maintain class distribution)</a:t>
            </a:r>
          </a:p>
          <a:p>
            <a:pPr>
              <a:buNone/>
            </a:pPr>
            <a:r>
              <a:rPr lang="en-US" dirty="0">
                <a:latin typeface="Google Sans Text"/>
              </a:rPr>
              <a:t> • Test Set: 3,068 images.</a:t>
            </a:r>
          </a:p>
          <a:p>
            <a:pPr>
              <a:buNone/>
            </a:pPr>
            <a:endParaRPr lang="en-US" dirty="0">
              <a:latin typeface="Google Sans Text"/>
            </a:endParaRPr>
          </a:p>
          <a:p>
            <a:pPr>
              <a:buNone/>
            </a:pPr>
            <a:r>
              <a:rPr lang="en-US" dirty="0">
                <a:latin typeface="Google Sans Text"/>
              </a:rPr>
              <a:t> Each image has a label representing one of the 7 possible classes</a:t>
            </a:r>
          </a:p>
        </p:txBody>
      </p:sp>
      <p:pic>
        <p:nvPicPr>
          <p:cNvPr id="4" name="Picture 3">
            <a:extLst>
              <a:ext uri="{FF2B5EF4-FFF2-40B4-BE49-F238E27FC236}">
                <a16:creationId xmlns:a16="http://schemas.microsoft.com/office/drawing/2014/main" id="{D3B94F96-88B8-CC8B-238B-805F574A3452}"/>
              </a:ext>
            </a:extLst>
          </p:cNvPr>
          <p:cNvPicPr>
            <a:picLocks noChangeAspect="1"/>
          </p:cNvPicPr>
          <p:nvPr/>
        </p:nvPicPr>
        <p:blipFill>
          <a:blip r:embed="rId2"/>
          <a:stretch>
            <a:fillRect/>
          </a:stretch>
        </p:blipFill>
        <p:spPr>
          <a:xfrm>
            <a:off x="953782" y="4299594"/>
            <a:ext cx="10284436" cy="1647847"/>
          </a:xfrm>
          <a:prstGeom prst="rect">
            <a:avLst/>
          </a:prstGeom>
        </p:spPr>
      </p:pic>
      <p:sp>
        <p:nvSpPr>
          <p:cNvPr id="7" name="Slide Number Placeholder 6">
            <a:extLst>
              <a:ext uri="{FF2B5EF4-FFF2-40B4-BE49-F238E27FC236}">
                <a16:creationId xmlns:a16="http://schemas.microsoft.com/office/drawing/2014/main" id="{E5742A14-AB88-4B0D-A838-45553B161986}"/>
              </a:ext>
            </a:extLst>
          </p:cNvPr>
          <p:cNvSpPr>
            <a:spLocks noGrp="1"/>
          </p:cNvSpPr>
          <p:nvPr>
            <p:ph type="sldNum" sz="quarter" idx="12"/>
          </p:nvPr>
        </p:nvSpPr>
        <p:spPr/>
        <p:txBody>
          <a:bodyPr/>
          <a:lstStyle/>
          <a:p>
            <a:fld id="{06FEDF93-2BFD-41CA-ABC7-B039102F3792}" type="slidenum">
              <a:rPr lang="en-US" smtClean="0"/>
              <a:t>6</a:t>
            </a:fld>
            <a:endParaRPr lang="en-US" dirty="0"/>
          </a:p>
        </p:txBody>
      </p:sp>
      <p:sp>
        <p:nvSpPr>
          <p:cNvPr id="10" name="TextBox 9">
            <a:extLst>
              <a:ext uri="{FF2B5EF4-FFF2-40B4-BE49-F238E27FC236}">
                <a16:creationId xmlns:a16="http://schemas.microsoft.com/office/drawing/2014/main" id="{F38FD1CF-9BB3-31AE-6CEB-B9718192682C}"/>
              </a:ext>
            </a:extLst>
          </p:cNvPr>
          <p:cNvSpPr txBox="1"/>
          <p:nvPr/>
        </p:nvSpPr>
        <p:spPr>
          <a:xfrm>
            <a:off x="3726561" y="5894685"/>
            <a:ext cx="6094324" cy="369332"/>
          </a:xfrm>
          <a:prstGeom prst="rect">
            <a:avLst/>
          </a:prstGeom>
          <a:noFill/>
        </p:spPr>
        <p:txBody>
          <a:bodyPr wrap="square">
            <a:spAutoFit/>
          </a:bodyPr>
          <a:lstStyle/>
          <a:p>
            <a:r>
              <a:rPr lang="en-US" dirty="0"/>
              <a:t>Figure 1: Example of image for each class </a:t>
            </a:r>
            <a:endParaRPr lang="en-GB" dirty="0"/>
          </a:p>
        </p:txBody>
      </p:sp>
    </p:spTree>
    <p:extLst>
      <p:ext uri="{BB962C8B-B14F-4D97-AF65-F5344CB8AC3E}">
        <p14:creationId xmlns:p14="http://schemas.microsoft.com/office/powerpoint/2010/main" val="448961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16F820-94A9-AF54-7758-AF3C00BDF7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8066350-CBD3-3B5A-A6D4-B1368382D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42EBC6-D5FA-DB67-131B-B4EA5EB8ABF1}"/>
              </a:ext>
            </a:extLst>
          </p:cNvPr>
          <p:cNvSpPr>
            <a:spLocks noGrp="1"/>
          </p:cNvSpPr>
          <p:nvPr>
            <p:ph type="ctrTitle"/>
          </p:nvPr>
        </p:nvSpPr>
        <p:spPr>
          <a:xfrm>
            <a:off x="638882" y="3577456"/>
            <a:ext cx="10909640" cy="1687814"/>
          </a:xfrm>
        </p:spPr>
        <p:txBody>
          <a:bodyPr anchor="b">
            <a:normAutofit fontScale="90000"/>
          </a:bodyPr>
          <a:lstStyle/>
          <a:p>
            <a:r>
              <a:rPr lang="en-GB" sz="6600" dirty="0"/>
              <a:t>2. Exploratory Data Analysis</a:t>
            </a:r>
          </a:p>
        </p:txBody>
      </p:sp>
      <p:pic>
        <p:nvPicPr>
          <p:cNvPr id="4" name="Picture 3" descr="A blue brain with black lines and dots&#10;&#10;AI-generated content may be incorrect.">
            <a:extLst>
              <a:ext uri="{FF2B5EF4-FFF2-40B4-BE49-F238E27FC236}">
                <a16:creationId xmlns:a16="http://schemas.microsoft.com/office/drawing/2014/main" id="{95EBCDAD-235C-6F88-28EC-2FB660CDC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1562" y="591670"/>
            <a:ext cx="5324279" cy="2742004"/>
          </a:xfrm>
          <a:prstGeom prst="rect">
            <a:avLst/>
          </a:prstGeom>
        </p:spPr>
      </p:pic>
      <p:sp>
        <p:nvSpPr>
          <p:cNvPr id="11" name="sketch line">
            <a:extLst>
              <a:ext uri="{FF2B5EF4-FFF2-40B4-BE49-F238E27FC236}">
                <a16:creationId xmlns:a16="http://schemas.microsoft.com/office/drawing/2014/main" id="{DE5DFB4E-0CF9-FB8E-1754-0A13EC86C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EBA518F-D848-6DA5-3433-E15BF9BB4723}"/>
              </a:ext>
            </a:extLst>
          </p:cNvPr>
          <p:cNvSpPr>
            <a:spLocks noGrp="1"/>
          </p:cNvSpPr>
          <p:nvPr>
            <p:ph type="sldNum" sz="quarter" idx="12"/>
          </p:nvPr>
        </p:nvSpPr>
        <p:spPr/>
        <p:txBody>
          <a:bodyPr/>
          <a:lstStyle/>
          <a:p>
            <a:fld id="{06FEDF93-2BFD-41CA-ABC7-B039102F3792}" type="slidenum">
              <a:rPr lang="en-US" smtClean="0"/>
              <a:t>7</a:t>
            </a:fld>
            <a:endParaRPr lang="en-US" dirty="0"/>
          </a:p>
        </p:txBody>
      </p:sp>
    </p:spTree>
    <p:extLst>
      <p:ext uri="{BB962C8B-B14F-4D97-AF65-F5344CB8AC3E}">
        <p14:creationId xmlns:p14="http://schemas.microsoft.com/office/powerpoint/2010/main" val="2398437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B61D-6123-7983-D9FE-66C1A7769AA0}"/>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7F496767-28B3-A268-B6C0-7C3113DCC8FF}"/>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5193DEA9-FFEA-AD39-2649-8F412346A99B}"/>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A1A74A7-08F7-8197-0903-CC6443DDAA1B}"/>
              </a:ext>
            </a:extLst>
          </p:cNvPr>
          <p:cNvSpPr txBox="1">
            <a:spLocks/>
          </p:cNvSpPr>
          <p:nvPr/>
        </p:nvSpPr>
        <p:spPr>
          <a:xfrm>
            <a:off x="296445" y="223914"/>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EDA</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1133458C-0D79-EB2B-4109-8FF94441E79F}"/>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Picture 2" descr="A black background with white text&#10;&#10;AI-generated content may be incorrect.">
            <a:extLst>
              <a:ext uri="{FF2B5EF4-FFF2-40B4-BE49-F238E27FC236}">
                <a16:creationId xmlns:a16="http://schemas.microsoft.com/office/drawing/2014/main" id="{46266374-2886-F3CA-28E8-23360E70D527}"/>
              </a:ext>
            </a:extLst>
          </p:cNvPr>
          <p:cNvPicPr>
            <a:picLocks noChangeAspect="1"/>
          </p:cNvPicPr>
          <p:nvPr/>
        </p:nvPicPr>
        <p:blipFill>
          <a:blip r:embed="rId3"/>
          <a:stretch>
            <a:fillRect/>
          </a:stretch>
        </p:blipFill>
        <p:spPr>
          <a:xfrm>
            <a:off x="1712504" y="1948304"/>
            <a:ext cx="2801028" cy="804081"/>
          </a:xfrm>
          <a:prstGeom prst="rect">
            <a:avLst/>
          </a:prstGeom>
        </p:spPr>
      </p:pic>
      <p:sp>
        <p:nvSpPr>
          <p:cNvPr id="5" name="TextBox 4">
            <a:extLst>
              <a:ext uri="{FF2B5EF4-FFF2-40B4-BE49-F238E27FC236}">
                <a16:creationId xmlns:a16="http://schemas.microsoft.com/office/drawing/2014/main" id="{E4C72ED9-DFED-803C-A58C-F245143F2235}"/>
              </a:ext>
            </a:extLst>
          </p:cNvPr>
          <p:cNvSpPr txBox="1"/>
          <p:nvPr/>
        </p:nvSpPr>
        <p:spPr>
          <a:xfrm>
            <a:off x="1712504" y="1406013"/>
            <a:ext cx="2501775" cy="369332"/>
          </a:xfrm>
          <a:prstGeom prst="rect">
            <a:avLst/>
          </a:prstGeom>
          <a:noFill/>
        </p:spPr>
        <p:txBody>
          <a:bodyPr wrap="none" rtlCol="0">
            <a:spAutoFit/>
          </a:bodyPr>
          <a:lstStyle/>
          <a:p>
            <a:pPr algn="ctr"/>
            <a:r>
              <a:rPr lang="en-GB" b="1" dirty="0"/>
              <a:t>Total number of images:</a:t>
            </a:r>
          </a:p>
        </p:txBody>
      </p:sp>
      <p:pic>
        <p:nvPicPr>
          <p:cNvPr id="7" name="Picture 6" descr="A screenshot of a computer program&#10;&#10;AI-generated content may be incorrect.">
            <a:extLst>
              <a:ext uri="{FF2B5EF4-FFF2-40B4-BE49-F238E27FC236}">
                <a16:creationId xmlns:a16="http://schemas.microsoft.com/office/drawing/2014/main" id="{E3DE59B3-9708-5347-C701-49EDD68EB496}"/>
              </a:ext>
            </a:extLst>
          </p:cNvPr>
          <p:cNvPicPr>
            <a:picLocks noChangeAspect="1"/>
          </p:cNvPicPr>
          <p:nvPr/>
        </p:nvPicPr>
        <p:blipFill>
          <a:blip r:embed="rId4"/>
          <a:stretch>
            <a:fillRect/>
          </a:stretch>
        </p:blipFill>
        <p:spPr>
          <a:xfrm>
            <a:off x="7292096" y="2154642"/>
            <a:ext cx="3187400" cy="4180460"/>
          </a:xfrm>
          <a:prstGeom prst="rect">
            <a:avLst/>
          </a:prstGeom>
        </p:spPr>
      </p:pic>
      <p:sp>
        <p:nvSpPr>
          <p:cNvPr id="9" name="TextBox 8">
            <a:extLst>
              <a:ext uri="{FF2B5EF4-FFF2-40B4-BE49-F238E27FC236}">
                <a16:creationId xmlns:a16="http://schemas.microsoft.com/office/drawing/2014/main" id="{3E32417D-B35E-0652-0091-936270F6DBC7}"/>
              </a:ext>
            </a:extLst>
          </p:cNvPr>
          <p:cNvSpPr txBox="1"/>
          <p:nvPr/>
        </p:nvSpPr>
        <p:spPr>
          <a:xfrm>
            <a:off x="7240502" y="1255677"/>
            <a:ext cx="3187400" cy="646331"/>
          </a:xfrm>
          <a:prstGeom prst="rect">
            <a:avLst/>
          </a:prstGeom>
          <a:noFill/>
        </p:spPr>
        <p:txBody>
          <a:bodyPr wrap="square" rtlCol="0">
            <a:spAutoFit/>
          </a:bodyPr>
          <a:lstStyle/>
          <a:p>
            <a:pPr algn="ctr"/>
            <a:r>
              <a:rPr lang="en-US" b="1" dirty="0"/>
              <a:t>Checking dataset info</a:t>
            </a:r>
          </a:p>
          <a:p>
            <a:pPr algn="ctr"/>
            <a:r>
              <a:rPr lang="en-US" b="1" dirty="0"/>
              <a:t>(missing values &amp; duplicates):</a:t>
            </a:r>
          </a:p>
        </p:txBody>
      </p:sp>
      <p:pic>
        <p:nvPicPr>
          <p:cNvPr id="12" name="Picture 11" descr="A black background with white text&#10;&#10;AI-generated content may be incorrect.">
            <a:extLst>
              <a:ext uri="{FF2B5EF4-FFF2-40B4-BE49-F238E27FC236}">
                <a16:creationId xmlns:a16="http://schemas.microsoft.com/office/drawing/2014/main" id="{CFA75F64-4D74-609A-8081-D0FBFB12C647}"/>
              </a:ext>
            </a:extLst>
          </p:cNvPr>
          <p:cNvPicPr>
            <a:picLocks noChangeAspect="1"/>
          </p:cNvPicPr>
          <p:nvPr/>
        </p:nvPicPr>
        <p:blipFill>
          <a:blip r:embed="rId5"/>
          <a:stretch>
            <a:fillRect/>
          </a:stretch>
        </p:blipFill>
        <p:spPr>
          <a:xfrm>
            <a:off x="1425598" y="3784241"/>
            <a:ext cx="3474307" cy="663187"/>
          </a:xfrm>
          <a:prstGeom prst="rect">
            <a:avLst/>
          </a:prstGeom>
        </p:spPr>
      </p:pic>
      <p:sp>
        <p:nvSpPr>
          <p:cNvPr id="13" name="TextBox 12">
            <a:extLst>
              <a:ext uri="{FF2B5EF4-FFF2-40B4-BE49-F238E27FC236}">
                <a16:creationId xmlns:a16="http://schemas.microsoft.com/office/drawing/2014/main" id="{EC6CA964-54D1-55F6-135A-8D2A9780ED2B}"/>
              </a:ext>
            </a:extLst>
          </p:cNvPr>
          <p:cNvSpPr txBox="1"/>
          <p:nvPr/>
        </p:nvSpPr>
        <p:spPr>
          <a:xfrm>
            <a:off x="2067748" y="3270462"/>
            <a:ext cx="2079415" cy="369332"/>
          </a:xfrm>
          <a:prstGeom prst="rect">
            <a:avLst/>
          </a:prstGeom>
          <a:noFill/>
        </p:spPr>
        <p:txBody>
          <a:bodyPr wrap="none" rtlCol="0">
            <a:spAutoFit/>
          </a:bodyPr>
          <a:lstStyle/>
          <a:p>
            <a:pPr algn="ctr"/>
            <a:r>
              <a:rPr lang="en-GB" b="1" dirty="0"/>
              <a:t>Images dimensions:</a:t>
            </a:r>
          </a:p>
        </p:txBody>
      </p:sp>
      <p:pic>
        <p:nvPicPr>
          <p:cNvPr id="16" name="Picture 15" descr="A black background with white text&#10;&#10;AI-generated content may be incorrect.">
            <a:extLst>
              <a:ext uri="{FF2B5EF4-FFF2-40B4-BE49-F238E27FC236}">
                <a16:creationId xmlns:a16="http://schemas.microsoft.com/office/drawing/2014/main" id="{CD8A965B-1558-3CFF-6790-17F20FB83289}"/>
              </a:ext>
            </a:extLst>
          </p:cNvPr>
          <p:cNvPicPr>
            <a:picLocks noChangeAspect="1"/>
          </p:cNvPicPr>
          <p:nvPr/>
        </p:nvPicPr>
        <p:blipFill>
          <a:blip r:embed="rId6"/>
          <a:stretch>
            <a:fillRect/>
          </a:stretch>
        </p:blipFill>
        <p:spPr>
          <a:xfrm>
            <a:off x="1712504" y="5424468"/>
            <a:ext cx="2725873" cy="701511"/>
          </a:xfrm>
          <a:prstGeom prst="rect">
            <a:avLst/>
          </a:prstGeom>
        </p:spPr>
      </p:pic>
      <p:sp>
        <p:nvSpPr>
          <p:cNvPr id="17" name="TextBox 16">
            <a:extLst>
              <a:ext uri="{FF2B5EF4-FFF2-40B4-BE49-F238E27FC236}">
                <a16:creationId xmlns:a16="http://schemas.microsoft.com/office/drawing/2014/main" id="{96970646-1C52-D574-DCC8-3BFB4ACA3937}"/>
              </a:ext>
            </a:extLst>
          </p:cNvPr>
          <p:cNvSpPr txBox="1"/>
          <p:nvPr/>
        </p:nvSpPr>
        <p:spPr>
          <a:xfrm>
            <a:off x="2214018" y="4947467"/>
            <a:ext cx="1722844" cy="369332"/>
          </a:xfrm>
          <a:prstGeom prst="rect">
            <a:avLst/>
          </a:prstGeom>
          <a:noFill/>
        </p:spPr>
        <p:txBody>
          <a:bodyPr wrap="none" rtlCol="0">
            <a:spAutoFit/>
          </a:bodyPr>
          <a:lstStyle/>
          <a:p>
            <a:pPr algn="ctr"/>
            <a:r>
              <a:rPr lang="en-GB" b="1" dirty="0"/>
              <a:t>Images formats:</a:t>
            </a:r>
          </a:p>
        </p:txBody>
      </p:sp>
      <p:sp>
        <p:nvSpPr>
          <p:cNvPr id="20" name="Slide Number Placeholder 19">
            <a:extLst>
              <a:ext uri="{FF2B5EF4-FFF2-40B4-BE49-F238E27FC236}">
                <a16:creationId xmlns:a16="http://schemas.microsoft.com/office/drawing/2014/main" id="{C7F373BD-0D80-EF11-D6DA-8C5EFA5B89F3}"/>
              </a:ext>
            </a:extLst>
          </p:cNvPr>
          <p:cNvSpPr>
            <a:spLocks noGrp="1"/>
          </p:cNvSpPr>
          <p:nvPr>
            <p:ph type="sldNum" sz="quarter" idx="12"/>
          </p:nvPr>
        </p:nvSpPr>
        <p:spPr/>
        <p:txBody>
          <a:bodyPr/>
          <a:lstStyle/>
          <a:p>
            <a:fld id="{06FEDF93-2BFD-41CA-ABC7-B039102F3792}" type="slidenum">
              <a:rPr lang="en-US" smtClean="0"/>
              <a:t>8</a:t>
            </a:fld>
            <a:endParaRPr lang="en-US" dirty="0"/>
          </a:p>
        </p:txBody>
      </p:sp>
    </p:spTree>
    <p:extLst>
      <p:ext uri="{BB962C8B-B14F-4D97-AF65-F5344CB8AC3E}">
        <p14:creationId xmlns:p14="http://schemas.microsoft.com/office/powerpoint/2010/main" val="2742058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1C0BC-6BAE-B24B-3C2A-92D7C61F3660}"/>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CD508617-04CB-6DCA-468C-862D2D7D56F0}"/>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2A1556DE-11DF-A5BC-F260-B9F6AA67EF58}"/>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2DBF3CB-0A40-15CF-F8B1-A5BC7B4AABD4}"/>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EDA</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B0674C0A-A297-41EB-6468-EDD48499E992}"/>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BBEB4D6E-A9FF-F59D-7BC4-49F34F2DE5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26591"/>
            <a:ext cx="3968328" cy="40568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C7B564C-6B53-4B92-C8CC-A4282ECB09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8327" y="1226592"/>
            <a:ext cx="3960279" cy="40568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DA5CE62-90D4-38AC-FD32-FF370F34E5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5624" y="1226591"/>
            <a:ext cx="3976376" cy="40568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98F7BB3-F556-1622-A401-41B408E0810E}"/>
              </a:ext>
            </a:extLst>
          </p:cNvPr>
          <p:cNvSpPr txBox="1"/>
          <p:nvPr/>
        </p:nvSpPr>
        <p:spPr>
          <a:xfrm>
            <a:off x="2362619" y="5990123"/>
            <a:ext cx="7466762" cy="646331"/>
          </a:xfrm>
          <a:prstGeom prst="rect">
            <a:avLst/>
          </a:prstGeom>
          <a:noFill/>
        </p:spPr>
        <p:txBody>
          <a:bodyPr wrap="square">
            <a:spAutoFit/>
          </a:bodyPr>
          <a:lstStyle/>
          <a:p>
            <a:pPr algn="ctr"/>
            <a:r>
              <a:rPr lang="en-US" dirty="0"/>
              <a:t>As we can see the distribution is almost similar in the three sets. However, there is a problem of unbalanced classes that has to be fixed in future steps</a:t>
            </a:r>
            <a:endParaRPr lang="en-GB" dirty="0"/>
          </a:p>
        </p:txBody>
      </p:sp>
      <p:sp>
        <p:nvSpPr>
          <p:cNvPr id="7" name="Slide Number Placeholder 6">
            <a:extLst>
              <a:ext uri="{FF2B5EF4-FFF2-40B4-BE49-F238E27FC236}">
                <a16:creationId xmlns:a16="http://schemas.microsoft.com/office/drawing/2014/main" id="{C581E902-B131-677C-0AAB-21ADF527A9FD}"/>
              </a:ext>
            </a:extLst>
          </p:cNvPr>
          <p:cNvSpPr>
            <a:spLocks noGrp="1"/>
          </p:cNvSpPr>
          <p:nvPr>
            <p:ph type="sldNum" sz="quarter" idx="12"/>
          </p:nvPr>
        </p:nvSpPr>
        <p:spPr/>
        <p:txBody>
          <a:bodyPr/>
          <a:lstStyle/>
          <a:p>
            <a:fld id="{06FEDF93-2BFD-41CA-ABC7-B039102F3792}" type="slidenum">
              <a:rPr lang="en-US" smtClean="0"/>
              <a:t>9</a:t>
            </a:fld>
            <a:endParaRPr lang="en-US" dirty="0"/>
          </a:p>
        </p:txBody>
      </p:sp>
      <p:sp>
        <p:nvSpPr>
          <p:cNvPr id="10" name="TextBox 9">
            <a:extLst>
              <a:ext uri="{FF2B5EF4-FFF2-40B4-BE49-F238E27FC236}">
                <a16:creationId xmlns:a16="http://schemas.microsoft.com/office/drawing/2014/main" id="{8F34AFF2-4F62-BA28-2935-8090779D6038}"/>
              </a:ext>
            </a:extLst>
          </p:cNvPr>
          <p:cNvSpPr txBox="1"/>
          <p:nvPr/>
        </p:nvSpPr>
        <p:spPr>
          <a:xfrm>
            <a:off x="2174565" y="5098797"/>
            <a:ext cx="7842869" cy="369332"/>
          </a:xfrm>
          <a:prstGeom prst="rect">
            <a:avLst/>
          </a:prstGeom>
          <a:noFill/>
        </p:spPr>
        <p:txBody>
          <a:bodyPr wrap="square">
            <a:spAutoFit/>
          </a:bodyPr>
          <a:lstStyle/>
          <a:p>
            <a:r>
              <a:rPr lang="en-US" dirty="0"/>
              <a:t>Figure 2: Distribution of the 7 classes across the Train, Validation, and Test sets</a:t>
            </a:r>
            <a:endParaRPr lang="en-GB" dirty="0"/>
          </a:p>
        </p:txBody>
      </p:sp>
    </p:spTree>
    <p:extLst>
      <p:ext uri="{BB962C8B-B14F-4D97-AF65-F5344CB8AC3E}">
        <p14:creationId xmlns:p14="http://schemas.microsoft.com/office/powerpoint/2010/main" val="3596702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B7B866-C9BD-69B2-3274-85BC22E8C5D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DF3A172-47E4-EB00-0DFA-818C22DD4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7864B6-CE68-0200-35E1-0FB64232CA08}"/>
              </a:ext>
            </a:extLst>
          </p:cNvPr>
          <p:cNvSpPr>
            <a:spLocks noGrp="1"/>
          </p:cNvSpPr>
          <p:nvPr>
            <p:ph type="ctrTitle"/>
          </p:nvPr>
        </p:nvSpPr>
        <p:spPr>
          <a:xfrm>
            <a:off x="638882" y="3577456"/>
            <a:ext cx="10909640" cy="1687814"/>
          </a:xfrm>
        </p:spPr>
        <p:txBody>
          <a:bodyPr anchor="b">
            <a:normAutofit fontScale="90000"/>
          </a:bodyPr>
          <a:lstStyle/>
          <a:p>
            <a:r>
              <a:rPr lang="en-GB" sz="6600" dirty="0"/>
              <a:t>2. Support Vector Machine (SVM)</a:t>
            </a:r>
          </a:p>
        </p:txBody>
      </p:sp>
      <p:pic>
        <p:nvPicPr>
          <p:cNvPr id="4" name="Picture 3" descr="A blue brain with black lines and dots&#10;&#10;AI-generated content may be incorrect.">
            <a:extLst>
              <a:ext uri="{FF2B5EF4-FFF2-40B4-BE49-F238E27FC236}">
                <a16:creationId xmlns:a16="http://schemas.microsoft.com/office/drawing/2014/main" id="{3031488A-E700-A9C6-FB9B-0559432FD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1562" y="591670"/>
            <a:ext cx="5324279" cy="2742004"/>
          </a:xfrm>
          <a:prstGeom prst="rect">
            <a:avLst/>
          </a:prstGeom>
        </p:spPr>
      </p:pic>
      <p:sp>
        <p:nvSpPr>
          <p:cNvPr id="11" name="sketch line">
            <a:extLst>
              <a:ext uri="{FF2B5EF4-FFF2-40B4-BE49-F238E27FC236}">
                <a16:creationId xmlns:a16="http://schemas.microsoft.com/office/drawing/2014/main" id="{CEC92753-BA67-CF2B-A954-6EDE6229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FF12A848-F2A5-A767-A23D-271BAB30CDB7}"/>
              </a:ext>
            </a:extLst>
          </p:cNvPr>
          <p:cNvSpPr>
            <a:spLocks noGrp="1"/>
          </p:cNvSpPr>
          <p:nvPr>
            <p:ph type="sldNum" sz="quarter" idx="12"/>
          </p:nvPr>
        </p:nvSpPr>
        <p:spPr/>
        <p:txBody>
          <a:bodyPr/>
          <a:lstStyle/>
          <a:p>
            <a:fld id="{06FEDF93-2BFD-41CA-ABC7-B039102F3792}" type="slidenum">
              <a:rPr lang="en-US" smtClean="0"/>
              <a:t>10</a:t>
            </a:fld>
            <a:endParaRPr lang="en-US" dirty="0"/>
          </a:p>
        </p:txBody>
      </p:sp>
    </p:spTree>
    <p:extLst>
      <p:ext uri="{BB962C8B-B14F-4D97-AF65-F5344CB8AC3E}">
        <p14:creationId xmlns:p14="http://schemas.microsoft.com/office/powerpoint/2010/main" val="710231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Preprocessing</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7" name="Rectangle 7">
            <a:extLst>
              <a:ext uri="{FF2B5EF4-FFF2-40B4-BE49-F238E27FC236}">
                <a16:creationId xmlns:a16="http://schemas.microsoft.com/office/drawing/2014/main" id="{E5501ABC-43BD-8E1C-7DD6-E1E7C22FCED4}"/>
              </a:ext>
            </a:extLst>
          </p:cNvPr>
          <p:cNvSpPr>
            <a:spLocks noChangeArrowheads="1"/>
          </p:cNvSpPr>
          <p:nvPr/>
        </p:nvSpPr>
        <p:spPr bwMode="auto">
          <a:xfrm>
            <a:off x="848139" y="1527377"/>
            <a:ext cx="10495722"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1F1F"/>
                </a:solidFill>
                <a:effectLst/>
                <a:latin typeface="Google Sans Text"/>
              </a:rPr>
              <a:t>A </a:t>
            </a:r>
            <a:r>
              <a:rPr kumimoji="0" lang="en-US" altLang="en-US" sz="1800" b="1" i="0" u="none" strike="noStrike" cap="none" normalizeH="0" baseline="0" dirty="0">
                <a:ln>
                  <a:noFill/>
                </a:ln>
                <a:solidFill>
                  <a:srgbClr val="1F1F1F"/>
                </a:solidFill>
                <a:effectLst/>
                <a:latin typeface="Google Sans Text"/>
              </a:rPr>
              <a:t>Support Vector Machine (SVM)</a:t>
            </a:r>
            <a:r>
              <a:rPr kumimoji="0" lang="en-US" altLang="en-US" sz="1800" b="0" i="0" u="none" strike="noStrike" cap="none" normalizeH="0" baseline="0" dirty="0">
                <a:ln>
                  <a:noFill/>
                </a:ln>
                <a:solidFill>
                  <a:srgbClr val="1F1F1F"/>
                </a:solidFill>
                <a:effectLst/>
                <a:latin typeface="Google Sans Text"/>
              </a:rPr>
              <a:t> is a classification algorithm that identifies the optimal hyperplane to separate data points into distinct classes.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1F1F"/>
                </a:solidFill>
                <a:effectLst/>
                <a:latin typeface="Google Sans Text"/>
              </a:rPr>
              <a:t>The preprocessing steps for the SVM model were critical for handling the image data's complexity and high dimensionality:</a:t>
            </a:r>
          </a:p>
          <a:p>
            <a:pPr marL="342900" lvl="0" indent="-342900" eaLnBrk="0" fontAlgn="base" hangingPunct="0">
              <a:spcBef>
                <a:spcPct val="0"/>
              </a:spcBef>
              <a:spcAft>
                <a:spcPct val="0"/>
              </a:spcAft>
              <a:buFont typeface="+mj-lt"/>
              <a:buAutoNum type="arabicPeriod"/>
            </a:pPr>
            <a:r>
              <a:rPr kumimoji="0" lang="en-US" altLang="en-US" sz="1800" b="1" i="0" u="none" strike="noStrike" cap="none" normalizeH="0" baseline="0" dirty="0">
                <a:ln>
                  <a:noFill/>
                </a:ln>
                <a:solidFill>
                  <a:srgbClr val="1F1F1F"/>
                </a:solidFill>
                <a:effectLst/>
                <a:latin typeface="Google Sans Text"/>
              </a:rPr>
              <a:t>Data Preparation and Feature Extraction: </a:t>
            </a:r>
            <a:r>
              <a:rPr kumimoji="0" lang="en-US" altLang="en-US" sz="1800" i="0" u="none" strike="noStrike" cap="none" normalizeH="0" baseline="0" dirty="0">
                <a:ln>
                  <a:noFill/>
                </a:ln>
                <a:solidFill>
                  <a:srgbClr val="1F1F1F"/>
                </a:solidFill>
                <a:effectLst/>
                <a:latin typeface="Google Sans Text"/>
              </a:rPr>
              <a:t>This combined step prepared the image data for the SVM. It involved Data Loading and Image Resizing to a standard 48 </a:t>
            </a:r>
            <a:r>
              <a:rPr lang="en-US" altLang="en-US" dirty="0">
                <a:solidFill>
                  <a:srgbClr val="1F1F1F"/>
                </a:solidFill>
                <a:latin typeface="Google Sans Text"/>
              </a:rPr>
              <a:t>x</a:t>
            </a:r>
            <a:r>
              <a:rPr kumimoji="0" lang="en-US" altLang="en-US" sz="1800" i="0" u="none" strike="noStrike" cap="none" normalizeH="0" baseline="0" dirty="0">
                <a:ln>
                  <a:noFill/>
                </a:ln>
                <a:solidFill>
                  <a:srgbClr val="1F1F1F"/>
                </a:solidFill>
                <a:effectLst/>
                <a:latin typeface="Google Sans Text"/>
              </a:rPr>
              <a:t> 48 format, followed by Image Normalization. A Data Generator was configured for Batch Iteration, which facilitated the Label Decoding and Image Flattening </a:t>
            </a:r>
            <a:r>
              <a:rPr lang="en-US" dirty="0">
                <a:latin typeface="Google Sans Flex"/>
              </a:rPr>
              <a:t>where 3D image arrays were reshaped into flat, 1D feature vectors suitable for the SVM</a:t>
            </a:r>
            <a:r>
              <a:rPr kumimoji="0" lang="en-US" altLang="en-US" sz="1800" i="0" u="none" strike="noStrike" cap="none" normalizeH="0" baseline="0" dirty="0">
                <a:ln>
                  <a:noFill/>
                </a:ln>
                <a:solidFill>
                  <a:srgbClr val="1F1F1F"/>
                </a:solidFill>
                <a:effectLst/>
                <a:latin typeface="Google Sans Text"/>
              </a:rPr>
              <a:t>. For the training set specifically, Training Set Rebalancing  was performed, culminating in the Data Aggregation of the final feature sets.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rgbClr val="1F1F1F"/>
                </a:solidFill>
                <a:effectLst/>
                <a:latin typeface="Google Sans Text"/>
              </a:rPr>
              <a:t>Dimensionality Reduction (PCA): </a:t>
            </a:r>
            <a:r>
              <a:rPr kumimoji="0" lang="en-US" altLang="en-US" sz="1800" i="0" u="none" strike="noStrike" cap="none" normalizeH="0" baseline="0" dirty="0">
                <a:ln>
                  <a:noFill/>
                </a:ln>
                <a:solidFill>
                  <a:srgbClr val="1F1F1F"/>
                </a:solidFill>
                <a:effectLst/>
                <a:latin typeface="Google Sans Text"/>
              </a:rPr>
              <a:t>Principal Component Analysis (PCA) was then applied to the extracted features. This step drastically reduced the input feature space to only 100 components, which accelerated the SVM training process and mitigated the curse of dimensionality, leading to a more robust and generalized model</a:t>
            </a:r>
            <a:r>
              <a:rPr kumimoji="0" lang="en-US" altLang="en-US" sz="1800" b="0" i="0" u="none" strike="noStrike" cap="none" normalizeH="0" baseline="0" dirty="0">
                <a:ln>
                  <a:noFill/>
                </a:ln>
                <a:solidFill>
                  <a:srgbClr val="1F1F1F"/>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Slide Number Placeholder 19">
            <a:extLst>
              <a:ext uri="{FF2B5EF4-FFF2-40B4-BE49-F238E27FC236}">
                <a16:creationId xmlns:a16="http://schemas.microsoft.com/office/drawing/2014/main" id="{DA691645-410A-9DA7-A16D-E781BDD8AAAF}"/>
              </a:ext>
            </a:extLst>
          </p:cNvPr>
          <p:cNvSpPr>
            <a:spLocks noGrp="1"/>
          </p:cNvSpPr>
          <p:nvPr>
            <p:ph type="sldNum" sz="quarter" idx="12"/>
          </p:nvPr>
        </p:nvSpPr>
        <p:spPr/>
        <p:txBody>
          <a:bodyPr/>
          <a:lstStyle/>
          <a:p>
            <a:fld id="{06FEDF93-2BFD-41CA-ABC7-B039102F3792}" type="slidenum">
              <a:rPr lang="en-US" smtClean="0"/>
              <a:t>11</a:t>
            </a:fld>
            <a:endParaRPr lang="en-US" dirty="0"/>
          </a:p>
        </p:txBody>
      </p:sp>
    </p:spTree>
    <p:extLst>
      <p:ext uri="{BB962C8B-B14F-4D97-AF65-F5344CB8AC3E}">
        <p14:creationId xmlns:p14="http://schemas.microsoft.com/office/powerpoint/2010/main" val="3887579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A41F3-C50E-8D8F-9F6D-1BF0F9CF4A03}"/>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4A07A1D5-5A6C-F4CE-1F12-DBECB6DA4FA3}"/>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0043F82D-5E05-63DA-8A12-39E688F27237}"/>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80F19CA-0580-1B3A-E3B7-28A457E87BFD}"/>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Linear Kernel SVM</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4113F6B-2EFB-6C53-E838-21FACA780859}"/>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8DD8A765-A7CD-53CB-3477-F1A5D9CEB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5530" y="1076174"/>
            <a:ext cx="5963668" cy="484243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1E704602-38CE-FC60-489B-D60E2873FA1E}"/>
              </a:ext>
            </a:extLst>
          </p:cNvPr>
          <p:cNvSpPr>
            <a:spLocks noChangeArrowheads="1"/>
          </p:cNvSpPr>
          <p:nvPr/>
        </p:nvSpPr>
        <p:spPr bwMode="auto">
          <a:xfrm>
            <a:off x="703387" y="2182505"/>
            <a:ext cx="4119824"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F1F1F"/>
                </a:solidFill>
                <a:effectLst/>
                <a:latin typeface="Google Sans Text"/>
              </a:rPr>
              <a:t>The Linear SVM model's accuracy was low because it treats pixels independently, failing to capture the hierarchical features of image data. The confusion matrix revealed specific errors, mainly confusing 'Fear' with 'Surprise' and 'Disgust' with 'Angry.' This limited performance was an anticipated result of using a basic SVM for a complex image classification task.</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3" name="Picture 2" descr="A black and white image of a smiley face&#10;&#10;AI-generated content may be incorrect.">
            <a:extLst>
              <a:ext uri="{FF2B5EF4-FFF2-40B4-BE49-F238E27FC236}">
                <a16:creationId xmlns:a16="http://schemas.microsoft.com/office/drawing/2014/main" id="{11EFF919-8423-BEA4-9EEC-F45C2049FE7A}"/>
              </a:ext>
            </a:extLst>
          </p:cNvPr>
          <p:cNvPicPr>
            <a:picLocks noChangeAspect="1"/>
          </p:cNvPicPr>
          <p:nvPr/>
        </p:nvPicPr>
        <p:blipFill>
          <a:blip r:embed="rId4"/>
          <a:stretch>
            <a:fillRect/>
          </a:stretch>
        </p:blipFill>
        <p:spPr>
          <a:xfrm>
            <a:off x="703387" y="4955203"/>
            <a:ext cx="2442558" cy="576570"/>
          </a:xfrm>
          <a:prstGeom prst="rect">
            <a:avLst/>
          </a:prstGeom>
        </p:spPr>
      </p:pic>
      <p:sp>
        <p:nvSpPr>
          <p:cNvPr id="9" name="Slide Number Placeholder 8">
            <a:extLst>
              <a:ext uri="{FF2B5EF4-FFF2-40B4-BE49-F238E27FC236}">
                <a16:creationId xmlns:a16="http://schemas.microsoft.com/office/drawing/2014/main" id="{C59EF58A-E8D1-7F57-6032-BC9044BA35A9}"/>
              </a:ext>
            </a:extLst>
          </p:cNvPr>
          <p:cNvSpPr>
            <a:spLocks noGrp="1"/>
          </p:cNvSpPr>
          <p:nvPr>
            <p:ph type="sldNum" sz="quarter" idx="12"/>
          </p:nvPr>
        </p:nvSpPr>
        <p:spPr/>
        <p:txBody>
          <a:bodyPr/>
          <a:lstStyle/>
          <a:p>
            <a:fld id="{06FEDF93-2BFD-41CA-ABC7-B039102F3792}" type="slidenum">
              <a:rPr lang="en-US" smtClean="0"/>
              <a:t>12</a:t>
            </a:fld>
            <a:endParaRPr lang="en-US" dirty="0"/>
          </a:p>
        </p:txBody>
      </p:sp>
      <p:sp>
        <p:nvSpPr>
          <p:cNvPr id="12" name="TextBox 11">
            <a:extLst>
              <a:ext uri="{FF2B5EF4-FFF2-40B4-BE49-F238E27FC236}">
                <a16:creationId xmlns:a16="http://schemas.microsoft.com/office/drawing/2014/main" id="{DB39B6A2-EB0C-2DEF-A562-4CAC86981633}"/>
              </a:ext>
            </a:extLst>
          </p:cNvPr>
          <p:cNvSpPr txBox="1"/>
          <p:nvPr/>
        </p:nvSpPr>
        <p:spPr>
          <a:xfrm>
            <a:off x="6711448" y="5918607"/>
            <a:ext cx="3798304" cy="646331"/>
          </a:xfrm>
          <a:prstGeom prst="rect">
            <a:avLst/>
          </a:prstGeom>
          <a:noFill/>
        </p:spPr>
        <p:txBody>
          <a:bodyPr wrap="square">
            <a:spAutoFit/>
          </a:bodyPr>
          <a:lstStyle/>
          <a:p>
            <a:r>
              <a:rPr lang="en-US" dirty="0"/>
              <a:t>Figure 3: Normalized Confusion Matrix of the SVM with Linear kernel</a:t>
            </a:r>
            <a:endParaRPr lang="en-GB" dirty="0"/>
          </a:p>
        </p:txBody>
      </p:sp>
    </p:spTree>
    <p:extLst>
      <p:ext uri="{BB962C8B-B14F-4D97-AF65-F5344CB8AC3E}">
        <p14:creationId xmlns:p14="http://schemas.microsoft.com/office/powerpoint/2010/main" val="169787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A6E3-48ED-E867-D3FF-2F7CE307C384}"/>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8EB84630-4DAD-1826-AD49-C8C700A9A226}"/>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6633242C-B16F-DEC9-68B0-DB229544F3BE}"/>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AD474DD-7D87-100D-96CA-9253589CDA2D}"/>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Polynomial (SVM)</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2EFD05F9-EFDA-F2DC-9BE7-E5E2A1CFCD2F}"/>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5122" name="Picture 2">
            <a:extLst>
              <a:ext uri="{FF2B5EF4-FFF2-40B4-BE49-F238E27FC236}">
                <a16:creationId xmlns:a16="http://schemas.microsoft.com/office/drawing/2014/main" id="{06716C6F-804E-E3A5-52BF-8157A4A381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102" y="1144076"/>
            <a:ext cx="6053135" cy="49150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69B13D9-8060-E392-FCC3-45A9B066E7B6}"/>
              </a:ext>
            </a:extLst>
          </p:cNvPr>
          <p:cNvSpPr txBox="1"/>
          <p:nvPr/>
        </p:nvSpPr>
        <p:spPr>
          <a:xfrm>
            <a:off x="399423" y="1975565"/>
            <a:ext cx="4875962" cy="2585323"/>
          </a:xfrm>
          <a:prstGeom prst="rect">
            <a:avLst/>
          </a:prstGeom>
          <a:noFill/>
        </p:spPr>
        <p:txBody>
          <a:bodyPr wrap="square">
            <a:spAutoFit/>
          </a:bodyPr>
          <a:lstStyle/>
          <a:p>
            <a:r>
              <a:rPr lang="en-US" b="0" i="0" dirty="0">
                <a:effectLst/>
                <a:latin typeface="Google Sans Flex"/>
              </a:rPr>
              <a:t>The Polynomial SVM confusion matrix shows high performance for 'Happy' (0.76 recall) but suffers from a significant bias, frequently misclassifying other emotions as 'Happy.' The 'Angry' class was the most challenging to identify (lowest recall of 0.30), being highly confused with both 'Disgust' and 'Happy'. This indicates that the non-linear kernel still struggles to resolve the subtle feature overlaps among negative expressions</a:t>
            </a:r>
            <a:endParaRPr lang="en-GB" dirty="0"/>
          </a:p>
        </p:txBody>
      </p:sp>
      <p:pic>
        <p:nvPicPr>
          <p:cNvPr id="12" name="Picture 11" descr="A group of symbols on a white background&#10;&#10;AI-generated content may be incorrect.">
            <a:extLst>
              <a:ext uri="{FF2B5EF4-FFF2-40B4-BE49-F238E27FC236}">
                <a16:creationId xmlns:a16="http://schemas.microsoft.com/office/drawing/2014/main" id="{87032F71-6C20-93A7-9A6D-B5B3D0388536}"/>
              </a:ext>
            </a:extLst>
          </p:cNvPr>
          <p:cNvPicPr>
            <a:picLocks noChangeAspect="1"/>
          </p:cNvPicPr>
          <p:nvPr/>
        </p:nvPicPr>
        <p:blipFill>
          <a:blip r:embed="rId4"/>
          <a:stretch>
            <a:fillRect/>
          </a:stretch>
        </p:blipFill>
        <p:spPr>
          <a:xfrm>
            <a:off x="469762" y="4751806"/>
            <a:ext cx="3856753" cy="597796"/>
          </a:xfrm>
          <a:prstGeom prst="rect">
            <a:avLst/>
          </a:prstGeom>
        </p:spPr>
      </p:pic>
      <p:sp>
        <p:nvSpPr>
          <p:cNvPr id="16" name="Slide Number Placeholder 15">
            <a:extLst>
              <a:ext uri="{FF2B5EF4-FFF2-40B4-BE49-F238E27FC236}">
                <a16:creationId xmlns:a16="http://schemas.microsoft.com/office/drawing/2014/main" id="{3C7AAF7C-C4B1-D956-CBAA-50B8C58AEEC9}"/>
              </a:ext>
            </a:extLst>
          </p:cNvPr>
          <p:cNvSpPr>
            <a:spLocks noGrp="1"/>
          </p:cNvSpPr>
          <p:nvPr>
            <p:ph type="sldNum" sz="quarter" idx="12"/>
          </p:nvPr>
        </p:nvSpPr>
        <p:spPr/>
        <p:txBody>
          <a:bodyPr/>
          <a:lstStyle/>
          <a:p>
            <a:fld id="{06FEDF93-2BFD-41CA-ABC7-B039102F3792}" type="slidenum">
              <a:rPr lang="en-US" smtClean="0"/>
              <a:t>13</a:t>
            </a:fld>
            <a:endParaRPr lang="en-US" dirty="0"/>
          </a:p>
        </p:txBody>
      </p:sp>
      <p:sp>
        <p:nvSpPr>
          <p:cNvPr id="18" name="TextBox 17">
            <a:extLst>
              <a:ext uri="{FF2B5EF4-FFF2-40B4-BE49-F238E27FC236}">
                <a16:creationId xmlns:a16="http://schemas.microsoft.com/office/drawing/2014/main" id="{028EE9C6-F092-9D62-3932-F7FDD53E28C3}"/>
              </a:ext>
            </a:extLst>
          </p:cNvPr>
          <p:cNvSpPr txBox="1"/>
          <p:nvPr/>
        </p:nvSpPr>
        <p:spPr>
          <a:xfrm>
            <a:off x="6729882" y="6034951"/>
            <a:ext cx="4021853" cy="646331"/>
          </a:xfrm>
          <a:prstGeom prst="rect">
            <a:avLst/>
          </a:prstGeom>
          <a:noFill/>
        </p:spPr>
        <p:txBody>
          <a:bodyPr wrap="square">
            <a:spAutoFit/>
          </a:bodyPr>
          <a:lstStyle/>
          <a:p>
            <a:r>
              <a:rPr lang="en-US" dirty="0"/>
              <a:t>Figure 4: Normalized Confusion Matrix of the SVM with Polynomial kernel</a:t>
            </a:r>
            <a:endParaRPr lang="en-GB" dirty="0"/>
          </a:p>
        </p:txBody>
      </p:sp>
    </p:spTree>
    <p:extLst>
      <p:ext uri="{BB962C8B-B14F-4D97-AF65-F5344CB8AC3E}">
        <p14:creationId xmlns:p14="http://schemas.microsoft.com/office/powerpoint/2010/main" val="383002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475D5-C26A-015A-5C92-B9647AAE7E94}"/>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E5871B93-4CB7-FC3F-1198-32D0A21F58A7}"/>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924133DF-1CDF-46E4-A4C8-D33DCBFDCB75}"/>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8FB1FDC-7BC8-D341-B133-7D05B73B3FA6}"/>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RBF (SVM)</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3902BF9F-925C-2FB5-A0E6-F227795D370C}"/>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08C11A95-FDAC-BAD1-40B0-1ECEB93AC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5385" y="1075801"/>
            <a:ext cx="6183227" cy="502071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3B47831-395A-E72F-8CA0-BF9D85DD8AA2}"/>
              </a:ext>
            </a:extLst>
          </p:cNvPr>
          <p:cNvSpPr>
            <a:spLocks noChangeArrowheads="1"/>
          </p:cNvSpPr>
          <p:nvPr/>
        </p:nvSpPr>
        <p:spPr bwMode="auto">
          <a:xfrm>
            <a:off x="800414" y="2053180"/>
            <a:ext cx="3600764"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1F1F"/>
                </a:solidFill>
                <a:effectLst/>
                <a:latin typeface="Google Sans Text"/>
              </a:rPr>
              <a:t>The RBF SVM effectively classified distinct emotions like </a:t>
            </a:r>
            <a:r>
              <a:rPr kumimoji="0" lang="en-US" altLang="en-US" sz="1800" b="1" i="0" u="none" strike="noStrike" cap="none" normalizeH="0" baseline="0" dirty="0">
                <a:ln>
                  <a:noFill/>
                </a:ln>
                <a:solidFill>
                  <a:srgbClr val="1F1F1F"/>
                </a:solidFill>
                <a:effectLst/>
                <a:latin typeface="Google Sans Text"/>
              </a:rPr>
              <a:t>'Happy' (0.77 recall)</a:t>
            </a:r>
            <a:r>
              <a:rPr kumimoji="0" lang="en-US" altLang="en-US" sz="1800" b="0" i="0" u="none" strike="noStrike" cap="none" normalizeH="0" baseline="0" dirty="0">
                <a:ln>
                  <a:noFill/>
                </a:ln>
                <a:solidFill>
                  <a:srgbClr val="1F1F1F"/>
                </a:solidFill>
                <a:effectLst/>
                <a:latin typeface="Google Sans Text"/>
              </a:rPr>
              <a:t>, confirming the kernel successfully handled non-linear boundaries. However, it struggled with visually similar expressions, frequently confusing the minority class </a:t>
            </a:r>
            <a:r>
              <a:rPr kumimoji="0" lang="en-US" altLang="en-US" sz="1800" b="1" i="0" u="none" strike="noStrike" cap="none" normalizeH="0" baseline="0" dirty="0">
                <a:ln>
                  <a:noFill/>
                </a:ln>
                <a:solidFill>
                  <a:srgbClr val="1F1F1F"/>
                </a:solidFill>
                <a:effectLst/>
                <a:latin typeface="Google Sans Text"/>
              </a:rPr>
              <a:t>'Disgust' ($0.40$ recall)</a:t>
            </a:r>
            <a:r>
              <a:rPr kumimoji="0" lang="en-US" altLang="en-US" sz="1800" b="0" i="0" u="none" strike="noStrike" cap="none" normalizeH="0" baseline="0" dirty="0">
                <a:ln>
                  <a:noFill/>
                </a:ln>
                <a:solidFill>
                  <a:srgbClr val="1F1F1F"/>
                </a:solidFill>
                <a:effectLst/>
                <a:latin typeface="Google Sans Text"/>
              </a:rPr>
              <a:t> with 'Neutral' or 'Sad' and misclassifying 'Fear' as 'Surprise.'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A black text with a white background&#10;&#10;AI-generated content may be incorrect.">
            <a:extLst>
              <a:ext uri="{FF2B5EF4-FFF2-40B4-BE49-F238E27FC236}">
                <a16:creationId xmlns:a16="http://schemas.microsoft.com/office/drawing/2014/main" id="{981034F5-E866-A721-A514-4036B6B5A2C5}"/>
              </a:ext>
            </a:extLst>
          </p:cNvPr>
          <p:cNvPicPr>
            <a:picLocks noChangeAspect="1"/>
          </p:cNvPicPr>
          <p:nvPr/>
        </p:nvPicPr>
        <p:blipFill>
          <a:blip r:embed="rId4"/>
          <a:stretch>
            <a:fillRect/>
          </a:stretch>
        </p:blipFill>
        <p:spPr>
          <a:xfrm>
            <a:off x="733388" y="4733588"/>
            <a:ext cx="4099869" cy="604316"/>
          </a:xfrm>
          <a:prstGeom prst="rect">
            <a:avLst/>
          </a:prstGeom>
        </p:spPr>
      </p:pic>
      <p:sp>
        <p:nvSpPr>
          <p:cNvPr id="9" name="Slide Number Placeholder 8">
            <a:extLst>
              <a:ext uri="{FF2B5EF4-FFF2-40B4-BE49-F238E27FC236}">
                <a16:creationId xmlns:a16="http://schemas.microsoft.com/office/drawing/2014/main" id="{418BDCA7-CD8C-CE91-7786-FF1D7FF013CF}"/>
              </a:ext>
            </a:extLst>
          </p:cNvPr>
          <p:cNvSpPr>
            <a:spLocks noGrp="1"/>
          </p:cNvSpPr>
          <p:nvPr>
            <p:ph type="sldNum" sz="quarter" idx="12"/>
          </p:nvPr>
        </p:nvSpPr>
        <p:spPr/>
        <p:txBody>
          <a:bodyPr/>
          <a:lstStyle/>
          <a:p>
            <a:fld id="{06FEDF93-2BFD-41CA-ABC7-B039102F3792}" type="slidenum">
              <a:rPr lang="en-US" smtClean="0"/>
              <a:t>14</a:t>
            </a:fld>
            <a:endParaRPr lang="en-US" dirty="0"/>
          </a:p>
        </p:txBody>
      </p:sp>
      <p:sp>
        <p:nvSpPr>
          <p:cNvPr id="12" name="TextBox 11">
            <a:extLst>
              <a:ext uri="{FF2B5EF4-FFF2-40B4-BE49-F238E27FC236}">
                <a16:creationId xmlns:a16="http://schemas.microsoft.com/office/drawing/2014/main" id="{D3A7E46E-5B96-1157-565D-038679CA5686}"/>
              </a:ext>
            </a:extLst>
          </p:cNvPr>
          <p:cNvSpPr txBox="1"/>
          <p:nvPr/>
        </p:nvSpPr>
        <p:spPr>
          <a:xfrm>
            <a:off x="6595906" y="6075144"/>
            <a:ext cx="3707843" cy="646331"/>
          </a:xfrm>
          <a:prstGeom prst="rect">
            <a:avLst/>
          </a:prstGeom>
          <a:noFill/>
        </p:spPr>
        <p:txBody>
          <a:bodyPr wrap="square">
            <a:spAutoFit/>
          </a:bodyPr>
          <a:lstStyle/>
          <a:p>
            <a:r>
              <a:rPr lang="en-US" dirty="0"/>
              <a:t>Figure 5: Normalized Confusion Matrix of the SVM with RBF kernel </a:t>
            </a:r>
            <a:endParaRPr lang="en-GB" dirty="0"/>
          </a:p>
        </p:txBody>
      </p:sp>
    </p:spTree>
    <p:extLst>
      <p:ext uri="{BB962C8B-B14F-4D97-AF65-F5344CB8AC3E}">
        <p14:creationId xmlns:p14="http://schemas.microsoft.com/office/powerpoint/2010/main" val="3623148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F0AC5-EB44-A49D-7FF3-6A49F4014A1D}"/>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036C6C78-378A-1E00-DFB8-3FF64259E88A}"/>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A37AACD7-0D4B-2FAE-D35A-21DF4A8C9910}"/>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A9E5E552-8B7B-76E0-7500-E1CE342AB20E}"/>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RBF (SVM)</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4B39542A-E91C-54F8-4F81-3AFD7B75A13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2534AB8E-0FF2-2791-ED9D-9A1EBB61E36A}"/>
              </a:ext>
            </a:extLst>
          </p:cNvPr>
          <p:cNvSpPr>
            <a:spLocks noChangeArrowheads="1"/>
          </p:cNvSpPr>
          <p:nvPr/>
        </p:nvSpPr>
        <p:spPr bwMode="auto">
          <a:xfrm>
            <a:off x="1338106" y="2690336"/>
            <a:ext cx="951578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1F1F1F"/>
                </a:solidFill>
                <a:effectLst/>
                <a:latin typeface="Google Sans Text"/>
              </a:rPr>
              <a:t>To understand why the RBF SVM was making specific errors, we applied the </a:t>
            </a:r>
            <a:r>
              <a:rPr lang="en-US" altLang="en-US" sz="2400" b="1" dirty="0">
                <a:solidFill>
                  <a:srgbClr val="1F1F1F"/>
                </a:solidFill>
                <a:latin typeface="Google Sans Text"/>
              </a:rPr>
              <a:t>F</a:t>
            </a:r>
            <a:r>
              <a:rPr kumimoji="0" lang="en-US" altLang="en-US" sz="2400" b="1" i="0" u="none" strike="noStrike" cap="none" normalizeH="0" baseline="0" dirty="0">
                <a:ln>
                  <a:noFill/>
                </a:ln>
                <a:solidFill>
                  <a:srgbClr val="1F1F1F"/>
                </a:solidFill>
                <a:effectLst/>
                <a:latin typeface="Google Sans Text"/>
              </a:rPr>
              <a:t>uzzy </a:t>
            </a:r>
            <a:r>
              <a:rPr lang="en-US" altLang="en-US" sz="2400" b="1" dirty="0">
                <a:solidFill>
                  <a:srgbClr val="1F1F1F"/>
                </a:solidFill>
                <a:latin typeface="Google Sans Text"/>
              </a:rPr>
              <a:t>S</a:t>
            </a:r>
            <a:r>
              <a:rPr kumimoji="0" lang="en-US" altLang="en-US" sz="2400" b="1" i="0" u="none" strike="noStrike" cap="none" normalizeH="0" baseline="0" dirty="0">
                <a:ln>
                  <a:noFill/>
                </a:ln>
                <a:solidFill>
                  <a:srgbClr val="1F1F1F"/>
                </a:solidFill>
                <a:effectLst/>
                <a:latin typeface="Google Sans Text"/>
              </a:rPr>
              <a:t>core </a:t>
            </a:r>
            <a:r>
              <a:rPr lang="en-US" altLang="en-US" sz="2400" b="1" dirty="0">
                <a:solidFill>
                  <a:srgbClr val="1F1F1F"/>
                </a:solidFill>
                <a:latin typeface="Google Sans Text"/>
              </a:rPr>
              <a:t>M</a:t>
            </a:r>
            <a:r>
              <a:rPr kumimoji="0" lang="en-US" altLang="en-US" sz="2400" b="1" i="0" u="none" strike="noStrike" cap="none" normalizeH="0" baseline="0" dirty="0">
                <a:ln>
                  <a:noFill/>
                </a:ln>
                <a:solidFill>
                  <a:srgbClr val="1F1F1F"/>
                </a:solidFill>
                <a:effectLst/>
                <a:latin typeface="Google Sans Text"/>
              </a:rPr>
              <a:t>embership </a:t>
            </a:r>
            <a:r>
              <a:rPr lang="en-US" altLang="en-US" sz="2400" b="1" dirty="0">
                <a:solidFill>
                  <a:srgbClr val="1F1F1F"/>
                </a:solidFill>
                <a:latin typeface="Google Sans Text"/>
              </a:rPr>
              <a:t>A</a:t>
            </a:r>
            <a:r>
              <a:rPr kumimoji="0" lang="en-US" altLang="en-US" sz="2400" b="1" i="0" u="none" strike="noStrike" cap="none" normalizeH="0" baseline="0" dirty="0">
                <a:ln>
                  <a:noFill/>
                </a:ln>
                <a:solidFill>
                  <a:srgbClr val="1F1F1F"/>
                </a:solidFill>
                <a:effectLst/>
                <a:latin typeface="Google Sans Text"/>
              </a:rPr>
              <a:t>nalysis</a:t>
            </a:r>
            <a:r>
              <a:rPr kumimoji="0" lang="en-US" altLang="en-US" sz="2400" i="0" u="none" strike="noStrike" cap="none" normalizeH="0" baseline="0" dirty="0">
                <a:ln>
                  <a:noFill/>
                </a:ln>
                <a:solidFill>
                  <a:srgbClr val="1F1F1F"/>
                </a:solidFill>
                <a:effectLst/>
                <a:latin typeface="Google Sans Text"/>
              </a:rPr>
              <a:t>. This technique visualizes the model's raw decision function outputs for all classes, and what we did was randomly retrieve a misclassified image from the dataset and analyze its scores.</a:t>
            </a: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
        <p:nvSpPr>
          <p:cNvPr id="9" name="Slide Number Placeholder 8">
            <a:extLst>
              <a:ext uri="{FF2B5EF4-FFF2-40B4-BE49-F238E27FC236}">
                <a16:creationId xmlns:a16="http://schemas.microsoft.com/office/drawing/2014/main" id="{11E5A2BD-32C2-E407-28E4-75A976BF2831}"/>
              </a:ext>
            </a:extLst>
          </p:cNvPr>
          <p:cNvSpPr>
            <a:spLocks noGrp="1"/>
          </p:cNvSpPr>
          <p:nvPr>
            <p:ph type="sldNum" sz="quarter" idx="12"/>
          </p:nvPr>
        </p:nvSpPr>
        <p:spPr/>
        <p:txBody>
          <a:bodyPr/>
          <a:lstStyle/>
          <a:p>
            <a:fld id="{06FEDF93-2BFD-41CA-ABC7-B039102F3792}" type="slidenum">
              <a:rPr lang="en-US" smtClean="0"/>
              <a:t>15</a:t>
            </a:fld>
            <a:endParaRPr lang="en-US" dirty="0"/>
          </a:p>
        </p:txBody>
      </p:sp>
    </p:spTree>
    <p:extLst>
      <p:ext uri="{BB962C8B-B14F-4D97-AF65-F5344CB8AC3E}">
        <p14:creationId xmlns:p14="http://schemas.microsoft.com/office/powerpoint/2010/main" val="2966187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975D-30CD-3D29-E753-6487823113C9}"/>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F9AACF00-AAE5-336E-8E9D-E2848CDA960D}"/>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7B46648A-4FD8-6C34-EF56-C33833A1C312}"/>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5A148B-8475-40C9-1E35-8952979D0DB2}"/>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RBF (SVM)</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F0028D3F-98B3-3464-447F-488F3A6CC15F}"/>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4098" name="Picture 2">
            <a:extLst>
              <a:ext uri="{FF2B5EF4-FFF2-40B4-BE49-F238E27FC236}">
                <a16:creationId xmlns:a16="http://schemas.microsoft.com/office/drawing/2014/main" id="{7C402DDC-F792-BB4D-9D7D-5FDED973C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867" y="1145512"/>
            <a:ext cx="9500815" cy="39957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3D651D1-4E16-0270-F40A-B30609E8AEBA}"/>
              </a:ext>
            </a:extLst>
          </p:cNvPr>
          <p:cNvSpPr>
            <a:spLocks noChangeArrowheads="1"/>
          </p:cNvSpPr>
          <p:nvPr/>
        </p:nvSpPr>
        <p:spPr bwMode="auto">
          <a:xfrm>
            <a:off x="984740" y="5504105"/>
            <a:ext cx="1065125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1F1F"/>
                </a:solidFill>
                <a:effectLst/>
                <a:latin typeface="Google Sans Text"/>
              </a:rPr>
              <a:t>The fuzzy score analysis of the misclassified 'Neutral' sample (predicted 'Sad') confirmed the error was a </a:t>
            </a:r>
            <a:r>
              <a:rPr kumimoji="0" lang="en-US" altLang="en-US" sz="1800" i="0" u="none" strike="noStrike" cap="none" normalizeH="0" baseline="0" dirty="0">
                <a:ln>
                  <a:noFill/>
                </a:ln>
                <a:solidFill>
                  <a:srgbClr val="1F1F1F"/>
                </a:solidFill>
                <a:effectLst/>
                <a:latin typeface="Google Sans Text"/>
              </a:rPr>
              <a:t>"close call" </a:t>
            </a:r>
            <a:r>
              <a:rPr kumimoji="0" lang="en-US" altLang="en-US" sz="1800" b="0" i="0" u="none" strike="noStrike" cap="none" normalizeH="0" baseline="0" dirty="0">
                <a:ln>
                  <a:noFill/>
                </a:ln>
                <a:solidFill>
                  <a:srgbClr val="1F1F1F"/>
                </a:solidFill>
                <a:effectLst/>
                <a:latin typeface="Google Sans Text"/>
              </a:rPr>
              <a:t>The model was highly </a:t>
            </a:r>
            <a:r>
              <a:rPr kumimoji="0" lang="en-US" altLang="en-US" sz="1800" i="0" u="none" strike="noStrike" cap="none" normalizeH="0" baseline="0" dirty="0">
                <a:ln>
                  <a:noFill/>
                </a:ln>
                <a:solidFill>
                  <a:srgbClr val="1F1F1F"/>
                </a:solidFill>
                <a:effectLst/>
                <a:latin typeface="Google Sans Text"/>
              </a:rPr>
              <a:t>confused</a:t>
            </a:r>
            <a:r>
              <a:rPr kumimoji="0" lang="en-US" altLang="en-US" sz="1800" b="0" i="0" u="none" strike="noStrike" cap="none" normalizeH="0" baseline="0" dirty="0">
                <a:ln>
                  <a:noFill/>
                </a:ln>
                <a:solidFill>
                  <a:srgbClr val="1F1F1F"/>
                </a:solidFill>
                <a:effectLst/>
                <a:latin typeface="Google Sans Text"/>
              </a:rPr>
              <a:t>, assigning a score of ~6.2 to 'Sad' but a nearly equal score of ~5.3 to the true class 'Neutral.' This indicates the decision boundary between 'Sad' and 'Neutral' was only marginally crossed.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FDC62AE9-EAAD-5298-C1A2-4CDA022356E5}"/>
              </a:ext>
            </a:extLst>
          </p:cNvPr>
          <p:cNvSpPr>
            <a:spLocks noGrp="1"/>
          </p:cNvSpPr>
          <p:nvPr>
            <p:ph type="sldNum" sz="quarter" idx="12"/>
          </p:nvPr>
        </p:nvSpPr>
        <p:spPr/>
        <p:txBody>
          <a:bodyPr/>
          <a:lstStyle/>
          <a:p>
            <a:fld id="{06FEDF93-2BFD-41CA-ABC7-B039102F3792}" type="slidenum">
              <a:rPr lang="en-US" smtClean="0"/>
              <a:t>16</a:t>
            </a:fld>
            <a:endParaRPr lang="en-US" dirty="0"/>
          </a:p>
        </p:txBody>
      </p:sp>
      <p:sp>
        <p:nvSpPr>
          <p:cNvPr id="9" name="TextBox 8">
            <a:extLst>
              <a:ext uri="{FF2B5EF4-FFF2-40B4-BE49-F238E27FC236}">
                <a16:creationId xmlns:a16="http://schemas.microsoft.com/office/drawing/2014/main" id="{5ED8DA54-A13F-6521-0C41-498455EF1FCB}"/>
              </a:ext>
            </a:extLst>
          </p:cNvPr>
          <p:cNvSpPr txBox="1"/>
          <p:nvPr/>
        </p:nvSpPr>
        <p:spPr>
          <a:xfrm>
            <a:off x="10463682" y="2404741"/>
            <a:ext cx="2092569" cy="1477328"/>
          </a:xfrm>
          <a:prstGeom prst="rect">
            <a:avLst/>
          </a:prstGeom>
          <a:noFill/>
        </p:spPr>
        <p:txBody>
          <a:bodyPr wrap="square">
            <a:spAutoFit/>
          </a:bodyPr>
          <a:lstStyle/>
          <a:p>
            <a:r>
              <a:rPr lang="en-US" dirty="0"/>
              <a:t>Figure 6: Fuzzy scores for the image n.2804 of SVM with RBF kernel </a:t>
            </a:r>
            <a:endParaRPr lang="en-GB" dirty="0"/>
          </a:p>
        </p:txBody>
      </p:sp>
    </p:spTree>
    <p:extLst>
      <p:ext uri="{BB962C8B-B14F-4D97-AF65-F5344CB8AC3E}">
        <p14:creationId xmlns:p14="http://schemas.microsoft.com/office/powerpoint/2010/main" val="1064552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165BA-8F57-B714-43A2-CE8064540274}"/>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04FD3793-3E81-E3E4-3087-902AAF79E001}"/>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9E9CCF30-982A-D922-1EE7-8B5847FA2C7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70E5478-6FC4-02A1-3BCA-73C6945A667C}"/>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ROC Curve (RBF)</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11116C11-C2A1-A786-91BE-AF14B34354C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7170" name="Picture 2">
            <a:extLst>
              <a:ext uri="{FF2B5EF4-FFF2-40B4-BE49-F238E27FC236}">
                <a16:creationId xmlns:a16="http://schemas.microsoft.com/office/drawing/2014/main" id="{21501329-E242-67B1-6BAB-EEC9CBB87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5481" y="1324357"/>
            <a:ext cx="6253947" cy="46592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16F9250-EDD8-62B2-4D8B-358A75BE4F16}"/>
              </a:ext>
            </a:extLst>
          </p:cNvPr>
          <p:cNvSpPr>
            <a:spLocks noChangeArrowheads="1"/>
          </p:cNvSpPr>
          <p:nvPr/>
        </p:nvSpPr>
        <p:spPr bwMode="auto">
          <a:xfrm>
            <a:off x="361742" y="3453035"/>
            <a:ext cx="1209082" cy="1960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B040ACED-4CB6-DE1F-1970-63A0594BA32D}"/>
              </a:ext>
            </a:extLst>
          </p:cNvPr>
          <p:cNvSpPr>
            <a:spLocks noChangeArrowheads="1"/>
          </p:cNvSpPr>
          <p:nvPr/>
        </p:nvSpPr>
        <p:spPr bwMode="auto">
          <a:xfrm>
            <a:off x="753626" y="2269002"/>
            <a:ext cx="3748035"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RBF SVM ROC curve shows excellent AUCs for distinct emotions like 'Happy' and 'Surprise' (both 0.92). However, negative emotions clustered closer to the diagonal, with 'Disgust' (0.76 AUC) and 'Sad' (0.79 AUC) performing lowest. This confirms that despite the RBF kernel's benefits, feature space overlap limits separation for these specific negative expressions.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9" name="Slide Number Placeholder 8">
            <a:extLst>
              <a:ext uri="{FF2B5EF4-FFF2-40B4-BE49-F238E27FC236}">
                <a16:creationId xmlns:a16="http://schemas.microsoft.com/office/drawing/2014/main" id="{39C05EF6-57F8-A9B5-8684-115DF755FF9B}"/>
              </a:ext>
            </a:extLst>
          </p:cNvPr>
          <p:cNvSpPr>
            <a:spLocks noGrp="1"/>
          </p:cNvSpPr>
          <p:nvPr>
            <p:ph type="sldNum" sz="quarter" idx="12"/>
          </p:nvPr>
        </p:nvSpPr>
        <p:spPr/>
        <p:txBody>
          <a:bodyPr/>
          <a:lstStyle/>
          <a:p>
            <a:fld id="{06FEDF93-2BFD-41CA-ABC7-B039102F3792}" type="slidenum">
              <a:rPr lang="en-US" smtClean="0"/>
              <a:t>17</a:t>
            </a:fld>
            <a:endParaRPr lang="en-US" dirty="0"/>
          </a:p>
        </p:txBody>
      </p:sp>
      <p:sp>
        <p:nvSpPr>
          <p:cNvPr id="12" name="TextBox 11">
            <a:extLst>
              <a:ext uri="{FF2B5EF4-FFF2-40B4-BE49-F238E27FC236}">
                <a16:creationId xmlns:a16="http://schemas.microsoft.com/office/drawing/2014/main" id="{8E603BBC-2765-483C-9427-5BBD7A80DCB0}"/>
              </a:ext>
            </a:extLst>
          </p:cNvPr>
          <p:cNvSpPr txBox="1"/>
          <p:nvPr/>
        </p:nvSpPr>
        <p:spPr>
          <a:xfrm>
            <a:off x="6087628" y="5987018"/>
            <a:ext cx="6104372" cy="369332"/>
          </a:xfrm>
          <a:prstGeom prst="rect">
            <a:avLst/>
          </a:prstGeom>
          <a:noFill/>
        </p:spPr>
        <p:txBody>
          <a:bodyPr wrap="square">
            <a:spAutoFit/>
          </a:bodyPr>
          <a:lstStyle/>
          <a:p>
            <a:r>
              <a:rPr lang="en-US" dirty="0"/>
              <a:t>Figure 7: ROC Curve of the SVM with RBF kernel </a:t>
            </a:r>
            <a:endParaRPr lang="en-GB" dirty="0"/>
          </a:p>
        </p:txBody>
      </p:sp>
    </p:spTree>
    <p:extLst>
      <p:ext uri="{BB962C8B-B14F-4D97-AF65-F5344CB8AC3E}">
        <p14:creationId xmlns:p14="http://schemas.microsoft.com/office/powerpoint/2010/main" val="3324912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B376F-FE2F-C4DD-B87C-C006E8D45B14}"/>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B5F3B379-8EED-A3A0-9D7C-8B84C9CA3217}"/>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53E46FB2-2CE3-4EEF-18E3-985039694930}"/>
              </a:ext>
              <a:ext uri="{C183D7F6-B498-43B3-948B-1728B52AA6E4}">
                <adec:decorative xmlns:adec="http://schemas.microsoft.com/office/drawing/2017/decorative" val="1"/>
              </a:ext>
            </a:extLst>
          </p:cNvPr>
          <p:cNvCxnSpPr>
            <a:cxnSpLocks/>
          </p:cNvCxnSpPr>
          <p:nvPr/>
        </p:nvCxnSpPr>
        <p:spPr>
          <a:xfrm>
            <a:off x="8472196" y="522898"/>
            <a:ext cx="37198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0AA3A45-999D-0FB1-B5C7-CE23FD8D4DAC}"/>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SVM Models Comparison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569BE68F-6ABB-339D-6867-F5D99201DF3A}"/>
              </a:ext>
              <a:ext uri="{C183D7F6-B498-43B3-948B-1728B52AA6E4}">
                <adec:decorative xmlns:adec="http://schemas.microsoft.com/office/drawing/2017/decorative" val="1"/>
              </a:ext>
            </a:extLst>
          </p:cNvPr>
          <p:cNvCxnSpPr>
            <a:cxnSpLocks/>
          </p:cNvCxnSpPr>
          <p:nvPr/>
        </p:nvCxnSpPr>
        <p:spPr>
          <a:xfrm>
            <a:off x="0" y="522898"/>
            <a:ext cx="372291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5B21B808-2914-BB03-7F08-3424F7E46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6752" y="1273742"/>
            <a:ext cx="6685868" cy="491896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036E9DA-A9F8-DBF4-A9EC-0B0966F1B2E4}"/>
              </a:ext>
            </a:extLst>
          </p:cNvPr>
          <p:cNvSpPr>
            <a:spLocks noGrp="1"/>
          </p:cNvSpPr>
          <p:nvPr>
            <p:ph type="sldNum" sz="quarter" idx="12"/>
          </p:nvPr>
        </p:nvSpPr>
        <p:spPr/>
        <p:txBody>
          <a:bodyPr/>
          <a:lstStyle/>
          <a:p>
            <a:fld id="{06FEDF93-2BFD-41CA-ABC7-B039102F3792}" type="slidenum">
              <a:rPr lang="en-US" smtClean="0"/>
              <a:t>18</a:t>
            </a:fld>
            <a:endParaRPr lang="en-US" dirty="0"/>
          </a:p>
        </p:txBody>
      </p:sp>
      <p:sp>
        <p:nvSpPr>
          <p:cNvPr id="6" name="TextBox 5">
            <a:extLst>
              <a:ext uri="{FF2B5EF4-FFF2-40B4-BE49-F238E27FC236}">
                <a16:creationId xmlns:a16="http://schemas.microsoft.com/office/drawing/2014/main" id="{912B0559-92D2-AC7F-3D12-18DA52DF7888}"/>
              </a:ext>
            </a:extLst>
          </p:cNvPr>
          <p:cNvSpPr txBox="1"/>
          <p:nvPr/>
        </p:nvSpPr>
        <p:spPr>
          <a:xfrm>
            <a:off x="3144298" y="6150436"/>
            <a:ext cx="6685868" cy="369332"/>
          </a:xfrm>
          <a:prstGeom prst="rect">
            <a:avLst/>
          </a:prstGeom>
          <a:noFill/>
        </p:spPr>
        <p:txBody>
          <a:bodyPr wrap="square">
            <a:spAutoFit/>
          </a:bodyPr>
          <a:lstStyle/>
          <a:p>
            <a:r>
              <a:rPr lang="en-US" dirty="0"/>
              <a:t>Figure 8: Bar chart of the test accuracies for the 3 SVM models </a:t>
            </a:r>
            <a:endParaRPr lang="en-GB" dirty="0"/>
          </a:p>
        </p:txBody>
      </p:sp>
    </p:spTree>
    <p:extLst>
      <p:ext uri="{BB962C8B-B14F-4D97-AF65-F5344CB8AC3E}">
        <p14:creationId xmlns:p14="http://schemas.microsoft.com/office/powerpoint/2010/main" val="3800554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C8F771-2CCC-E08D-B92A-7A57C6C71C8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3AF213-EEAB-98DF-BAD5-F2DD2DDCE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408CF-315B-371C-165E-C135C8F258E1}"/>
              </a:ext>
            </a:extLst>
          </p:cNvPr>
          <p:cNvSpPr>
            <a:spLocks noGrp="1"/>
          </p:cNvSpPr>
          <p:nvPr>
            <p:ph type="ctrTitle"/>
          </p:nvPr>
        </p:nvSpPr>
        <p:spPr>
          <a:xfrm>
            <a:off x="638882" y="3577456"/>
            <a:ext cx="10909640" cy="1687814"/>
          </a:xfrm>
        </p:spPr>
        <p:txBody>
          <a:bodyPr anchor="b">
            <a:normAutofit fontScale="90000"/>
          </a:bodyPr>
          <a:lstStyle/>
          <a:p>
            <a:r>
              <a:rPr lang="en-GB" sz="6600" dirty="0"/>
              <a:t>4. </a:t>
            </a:r>
            <a:r>
              <a:rPr lang="en-US" dirty="0"/>
              <a:t>Convolutional Neural Network</a:t>
            </a:r>
            <a:r>
              <a:rPr lang="en-GB" sz="6600" dirty="0"/>
              <a:t> (CNN)</a:t>
            </a:r>
          </a:p>
        </p:txBody>
      </p:sp>
      <p:pic>
        <p:nvPicPr>
          <p:cNvPr id="4" name="Picture 3" descr="A blue brain with black lines and dots&#10;&#10;AI-generated content may be incorrect.">
            <a:extLst>
              <a:ext uri="{FF2B5EF4-FFF2-40B4-BE49-F238E27FC236}">
                <a16:creationId xmlns:a16="http://schemas.microsoft.com/office/drawing/2014/main" id="{A4A34B37-42C1-2CE8-85D7-FAA1C9D134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1562" y="591670"/>
            <a:ext cx="5324279" cy="2742004"/>
          </a:xfrm>
          <a:prstGeom prst="rect">
            <a:avLst/>
          </a:prstGeom>
        </p:spPr>
      </p:pic>
      <p:sp>
        <p:nvSpPr>
          <p:cNvPr id="11" name="sketch line">
            <a:extLst>
              <a:ext uri="{FF2B5EF4-FFF2-40B4-BE49-F238E27FC236}">
                <a16:creationId xmlns:a16="http://schemas.microsoft.com/office/drawing/2014/main" id="{FEDE15F5-8BEB-DC4F-6210-1D9B96296A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332DE40-BBF1-35A2-BDAE-2091A95BA56F}"/>
              </a:ext>
            </a:extLst>
          </p:cNvPr>
          <p:cNvSpPr>
            <a:spLocks noGrp="1"/>
          </p:cNvSpPr>
          <p:nvPr>
            <p:ph type="sldNum" sz="quarter" idx="12"/>
          </p:nvPr>
        </p:nvSpPr>
        <p:spPr/>
        <p:txBody>
          <a:bodyPr/>
          <a:lstStyle/>
          <a:p>
            <a:fld id="{06FEDF93-2BFD-41CA-ABC7-B039102F3792}" type="slidenum">
              <a:rPr lang="en-US" smtClean="0"/>
              <a:t>19</a:t>
            </a:fld>
            <a:endParaRPr lang="en-US" dirty="0"/>
          </a:p>
        </p:txBody>
      </p:sp>
    </p:spTree>
    <p:extLst>
      <p:ext uri="{BB962C8B-B14F-4D97-AF65-F5344CB8AC3E}">
        <p14:creationId xmlns:p14="http://schemas.microsoft.com/office/powerpoint/2010/main" val="2320229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B5B0-DEDD-8BCB-5FF0-501F391EDE1A}"/>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D94A3450-8218-7798-CF5E-62142A5CFEB6}"/>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307C2B1C-42FA-8A36-96B1-F1B487BA776F}"/>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B828523-CBD0-F57D-9321-C0D8C46DDE4A}"/>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Preprocessing</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94AD4D21-6B05-DAA4-E07E-9C22082AE3FC}"/>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8CC5D5E-C04B-DEF4-6648-B24CB975BFCD}"/>
              </a:ext>
            </a:extLst>
          </p:cNvPr>
          <p:cNvSpPr>
            <a:spLocks noChangeArrowheads="1"/>
          </p:cNvSpPr>
          <p:nvPr/>
        </p:nvSpPr>
        <p:spPr bwMode="auto">
          <a:xfrm>
            <a:off x="1286191" y="1828069"/>
            <a:ext cx="10088543"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 </a:t>
            </a:r>
            <a:r>
              <a:rPr kumimoji="0" lang="en-US" altLang="en-US" sz="1800" b="1" i="0" u="none" strike="noStrike" cap="none" normalizeH="0" baseline="0" dirty="0">
                <a:ln>
                  <a:noFill/>
                </a:ln>
                <a:solidFill>
                  <a:schemeClr val="tx1"/>
                </a:solidFill>
                <a:effectLst/>
                <a:latin typeface="Google Sans Text"/>
              </a:rPr>
              <a:t>Convolutional Neural Network (CNN)</a:t>
            </a:r>
            <a:r>
              <a:rPr kumimoji="0" lang="en-US" altLang="en-US" sz="1800" b="0" i="0" u="none" strike="noStrike" cap="none" normalizeH="0" baseline="0" dirty="0">
                <a:ln>
                  <a:noFill/>
                </a:ln>
                <a:solidFill>
                  <a:schemeClr val="tx1"/>
                </a:solidFill>
                <a:effectLst/>
                <a:latin typeface="Google Sans Text"/>
              </a:rPr>
              <a:t> is a deep learning model that automatically learns spatial features from images using convolutional layers.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The CNN preprocessing focused on balancing data and preventing overfitting:</a:t>
            </a: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Google Sans Text"/>
              </a:rPr>
              <a:t>Class Balancing (Random Oversampling):</a:t>
            </a:r>
            <a:r>
              <a:rPr kumimoji="0" lang="en-US" altLang="en-US" sz="1800" b="0" i="0" u="none" strike="noStrike" cap="none" normalizeH="0" baseline="0" dirty="0">
                <a:ln>
                  <a:noFill/>
                </a:ln>
                <a:solidFill>
                  <a:schemeClr val="tx1"/>
                </a:solidFill>
                <a:effectLst/>
                <a:latin typeface="Google Sans Text"/>
              </a:rPr>
              <a:t> We used </a:t>
            </a:r>
            <a:r>
              <a:rPr kumimoji="0" lang="en-US" altLang="en-US" sz="1800" i="0" u="none" strike="noStrike" cap="none" normalizeH="0" baseline="0" dirty="0">
                <a:ln>
                  <a:noFill/>
                </a:ln>
                <a:solidFill>
                  <a:schemeClr val="tx1"/>
                </a:solidFill>
                <a:effectLst/>
                <a:latin typeface="Google Sans Text"/>
              </a:rPr>
              <a:t>Random Oversampling </a:t>
            </a:r>
            <a:r>
              <a:rPr kumimoji="0" lang="en-US" altLang="en-US" sz="1800" b="0" i="0" u="none" strike="noStrike" cap="none" normalizeH="0" baseline="0" dirty="0">
                <a:ln>
                  <a:noFill/>
                </a:ln>
                <a:solidFill>
                  <a:schemeClr val="tx1"/>
                </a:solidFill>
                <a:effectLst/>
                <a:latin typeface="Google Sans Text"/>
              </a:rPr>
              <a:t>on the training set to address class imbalance, ensuring a balanced input distribution for the model.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Google Sans Text"/>
              </a:rPr>
              <a:t>Data Augmentation:</a:t>
            </a:r>
            <a:r>
              <a:rPr kumimoji="0" lang="en-US" altLang="en-US" sz="1800" b="0" i="0" u="none" strike="noStrike" cap="none" normalizeH="0" baseline="0" dirty="0">
                <a:ln>
                  <a:noFill/>
                </a:ln>
                <a:solidFill>
                  <a:schemeClr val="tx1"/>
                </a:solidFill>
                <a:effectLst/>
                <a:latin typeface="Google Sans Text"/>
              </a:rPr>
              <a:t> </a:t>
            </a:r>
            <a:r>
              <a:rPr kumimoji="0" lang="en-US" altLang="en-US" sz="1800" i="0" u="none" strike="noStrike" cap="none" normalizeH="0" baseline="0" dirty="0">
                <a:ln>
                  <a:noFill/>
                </a:ln>
                <a:solidFill>
                  <a:schemeClr val="tx1"/>
                </a:solidFill>
                <a:effectLst/>
                <a:latin typeface="Google Sans Text"/>
              </a:rPr>
              <a:t>Real-time Data Augmentation </a:t>
            </a:r>
            <a:r>
              <a:rPr kumimoji="0" lang="en-US" altLang="en-US" sz="1800" b="0" i="0" u="none" strike="noStrike" cap="none" normalizeH="0" baseline="0" dirty="0">
                <a:ln>
                  <a:noFill/>
                </a:ln>
                <a:solidFill>
                  <a:schemeClr val="tx1"/>
                </a:solidFill>
                <a:effectLst/>
                <a:latin typeface="Google Sans Text"/>
              </a:rPr>
              <a:t>(including rotation, shifts, zoom, and flips) was applied to the training images to artificially expand the dataset and improve model generalization against overfitting.</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Google Sans Text"/>
              </a:rPr>
              <a:t>Generator Configuration:</a:t>
            </a:r>
            <a:r>
              <a:rPr kumimoji="0" lang="en-US" altLang="en-US" sz="1800" b="0" i="0" u="none" strike="noStrike" cap="none" normalizeH="0" baseline="0" dirty="0">
                <a:ln>
                  <a:noFill/>
                </a:ln>
                <a:solidFill>
                  <a:schemeClr val="tx1"/>
                </a:solidFill>
                <a:effectLst/>
                <a:latin typeface="Google Sans Text"/>
              </a:rPr>
              <a:t> Data Generators streamed normalized images at 100</a:t>
            </a:r>
            <a:r>
              <a:rPr lang="en-US" altLang="en-US" dirty="0">
                <a:latin typeface="Google Sans Text"/>
              </a:rPr>
              <a:t>x100</a:t>
            </a:r>
            <a:r>
              <a:rPr kumimoji="0" lang="en-US" altLang="en-US" sz="1800" i="0" u="none" strike="noStrike" cap="none" normalizeH="0" baseline="0" dirty="0">
                <a:ln>
                  <a:noFill/>
                </a:ln>
                <a:solidFill>
                  <a:schemeClr val="tx1"/>
                </a:solidFill>
                <a:effectLst/>
                <a:latin typeface="Google Sans Text"/>
              </a:rPr>
              <a:t> pixels</a:t>
            </a:r>
            <a:r>
              <a:rPr kumimoji="0" lang="en-US" altLang="en-US" sz="1800" b="0" i="0" u="none" strike="noStrike" cap="none" normalizeH="0" baseline="0" dirty="0">
                <a:ln>
                  <a:noFill/>
                </a:ln>
                <a:solidFill>
                  <a:schemeClr val="tx1"/>
                </a:solidFill>
                <a:effectLst/>
                <a:latin typeface="Google Sans Text"/>
              </a:rPr>
              <a:t> resolution, using shuffling for training and fixed order for evaluation.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D5961145-4D1D-D2F0-FE3D-CF137D7EAEDC}"/>
              </a:ext>
            </a:extLst>
          </p:cNvPr>
          <p:cNvSpPr>
            <a:spLocks noGrp="1"/>
          </p:cNvSpPr>
          <p:nvPr>
            <p:ph type="sldNum" sz="quarter" idx="12"/>
          </p:nvPr>
        </p:nvSpPr>
        <p:spPr/>
        <p:txBody>
          <a:bodyPr/>
          <a:lstStyle/>
          <a:p>
            <a:fld id="{06FEDF93-2BFD-41CA-ABC7-B039102F3792}" type="slidenum">
              <a:rPr lang="en-US" smtClean="0"/>
              <a:t>20</a:t>
            </a:fld>
            <a:endParaRPr lang="en-US" dirty="0"/>
          </a:p>
        </p:txBody>
      </p:sp>
    </p:spTree>
    <p:extLst>
      <p:ext uri="{BB962C8B-B14F-4D97-AF65-F5344CB8AC3E}">
        <p14:creationId xmlns:p14="http://schemas.microsoft.com/office/powerpoint/2010/main" val="1894809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0C0AE-ABD6-8672-5AE7-C1FF70F0F11A}"/>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1B9CA0B0-1DBE-4AB4-5F8F-4264C2995551}"/>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9C380F5-EABB-B9F6-B79A-6C0BF8EC5B8F}"/>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DE9DC055-89B4-0F5F-BCA3-9EC6B18F4470}"/>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CNN Architecture</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65365FD2-CF6C-1EA6-83DE-B23407661332}"/>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E63F9917-AE8C-64BB-E8C2-443566584E88}"/>
              </a:ext>
            </a:extLst>
          </p:cNvPr>
          <p:cNvSpPr>
            <a:spLocks noChangeArrowheads="1"/>
          </p:cNvSpPr>
          <p:nvPr/>
        </p:nvSpPr>
        <p:spPr bwMode="auto">
          <a:xfrm>
            <a:off x="1052565" y="1217298"/>
            <a:ext cx="1061357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CNN is a Sequential model for 100x100 inputs, using a pyramidal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F1F1F"/>
                </a:solidFill>
                <a:effectLst/>
                <a:latin typeface="Google Sans Text"/>
              </a:rPr>
              <a:t>Feature Extraction:</a:t>
            </a:r>
            <a:r>
              <a:rPr kumimoji="0" lang="en-US" altLang="en-US" sz="1800" b="0" i="0" u="none" strike="noStrike" cap="none" normalizeH="0" baseline="0" dirty="0">
                <a:ln>
                  <a:noFill/>
                </a:ln>
                <a:solidFill>
                  <a:srgbClr val="1F1F1F"/>
                </a:solidFill>
                <a:effectLst/>
                <a:latin typeface="Google Sans Text"/>
              </a:rPr>
              <a:t> Four blocks apply </a:t>
            </a:r>
            <a:r>
              <a:rPr kumimoji="0" lang="en-US" altLang="en-US" sz="1800" i="0" u="none" strike="noStrike" cap="none" normalizeH="0" baseline="0" dirty="0">
                <a:ln>
                  <a:noFill/>
                </a:ln>
                <a:solidFill>
                  <a:srgbClr val="1F1F1F"/>
                </a:solidFill>
                <a:effectLst/>
                <a:latin typeface="Google Sans Text"/>
              </a:rPr>
              <a:t>Conv2D, Batch Norm, </a:t>
            </a:r>
            <a:r>
              <a:rPr kumimoji="0" lang="en-US" altLang="en-US" sz="1800" i="0" u="none" strike="noStrike" cap="none" normalizeH="0" baseline="0" dirty="0" err="1">
                <a:ln>
                  <a:noFill/>
                </a:ln>
                <a:solidFill>
                  <a:srgbClr val="1F1F1F"/>
                </a:solidFill>
                <a:effectLst/>
                <a:latin typeface="Google Sans Text"/>
              </a:rPr>
              <a:t>ReLU</a:t>
            </a:r>
            <a:r>
              <a:rPr kumimoji="0" lang="en-US" altLang="en-US" sz="1800" i="0" u="none" strike="noStrike" cap="none" normalizeH="0" baseline="0" dirty="0">
                <a:ln>
                  <a:noFill/>
                </a:ln>
                <a:solidFill>
                  <a:srgbClr val="1F1F1F"/>
                </a:solidFill>
                <a:effectLst/>
                <a:latin typeface="Google Sans Text"/>
              </a:rPr>
              <a:t>, and </a:t>
            </a:r>
            <a:r>
              <a:rPr kumimoji="0" lang="en-US" altLang="en-US" sz="1800" i="0" u="none" strike="noStrike" cap="none" normalizeH="0" baseline="0" dirty="0" err="1">
                <a:ln>
                  <a:noFill/>
                </a:ln>
                <a:solidFill>
                  <a:srgbClr val="1F1F1F"/>
                </a:solidFill>
                <a:effectLst/>
                <a:latin typeface="Google Sans Text"/>
              </a:rPr>
              <a:t>MaxPooling</a:t>
            </a:r>
            <a:r>
              <a:rPr kumimoji="0" lang="en-US" altLang="en-US" sz="1800" i="0" u="none" strike="noStrike" cap="none" normalizeH="0" baseline="0" dirty="0">
                <a:ln>
                  <a:noFill/>
                </a:ln>
                <a:solidFill>
                  <a:srgbClr val="1F1F1F"/>
                </a:solidFill>
                <a:effectLst/>
                <a:latin typeface="Google Sans Text"/>
              </a:rPr>
              <a:t>, </a:t>
            </a:r>
            <a:r>
              <a:rPr kumimoji="0" lang="en-US" altLang="en-US" sz="1800" b="0" i="0" u="none" strike="noStrike" cap="none" normalizeH="0" baseline="0" dirty="0">
                <a:ln>
                  <a:noFill/>
                </a:ln>
                <a:solidFill>
                  <a:srgbClr val="1F1F1F"/>
                </a:solidFill>
                <a:effectLst/>
                <a:latin typeface="Google Sans Text"/>
              </a:rPr>
              <a:t>progressively doubling filters (32 to 256) to extract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F1F1F"/>
                </a:solidFill>
                <a:effectLst/>
                <a:latin typeface="Google Sans Text"/>
              </a:rPr>
              <a:t>Classification Head:</a:t>
            </a:r>
            <a:r>
              <a:rPr kumimoji="0" lang="en-US" altLang="en-US" sz="1800" b="0" i="0" u="none" strike="noStrike" cap="none" normalizeH="0" baseline="0" dirty="0">
                <a:ln>
                  <a:noFill/>
                </a:ln>
                <a:solidFill>
                  <a:srgbClr val="1F1F1F"/>
                </a:solidFill>
                <a:effectLst/>
                <a:latin typeface="Google Sans Text"/>
              </a:rPr>
              <a:t> Features are flattened, passed through a </a:t>
            </a:r>
            <a:r>
              <a:rPr kumimoji="0" lang="en-US" altLang="en-US" sz="1800" i="0" u="none" strike="noStrike" cap="none" normalizeH="0" baseline="0" dirty="0">
                <a:ln>
                  <a:noFill/>
                </a:ln>
                <a:solidFill>
                  <a:srgbClr val="1F1F1F"/>
                </a:solidFill>
                <a:effectLst/>
                <a:latin typeface="Google Sans Text"/>
              </a:rPr>
              <a:t>512-neuron dense layer </a:t>
            </a:r>
            <a:r>
              <a:rPr kumimoji="0" lang="en-US" altLang="en-US" sz="1800" b="0" i="0" u="none" strike="noStrike" cap="none" normalizeH="0" baseline="0" dirty="0">
                <a:ln>
                  <a:noFill/>
                </a:ln>
                <a:solidFill>
                  <a:srgbClr val="1F1F1F"/>
                </a:solidFill>
                <a:effectLst/>
                <a:latin typeface="Google Sans Text"/>
              </a:rPr>
              <a:t>(with Batch Norm and </a:t>
            </a:r>
            <a:r>
              <a:rPr kumimoji="0" lang="en-US" altLang="en-US" sz="1800" b="0" i="0" u="none" strike="noStrike" cap="none" normalizeH="0" baseline="0" dirty="0" err="1">
                <a:ln>
                  <a:noFill/>
                </a:ln>
                <a:solidFill>
                  <a:srgbClr val="1F1F1F"/>
                </a:solidFill>
                <a:effectLst/>
                <a:latin typeface="Google Sans Text"/>
              </a:rPr>
              <a:t>ReLU</a:t>
            </a:r>
            <a:r>
              <a:rPr kumimoji="0" lang="en-US" altLang="en-US" sz="1800" b="0" i="0" u="none" strike="noStrike" cap="none" normalizeH="0" baseline="0" dirty="0">
                <a:ln>
                  <a:noFill/>
                </a:ln>
                <a:solidFill>
                  <a:srgbClr val="1F1F1F"/>
                </a:solidFill>
                <a:effectLst/>
                <a:latin typeface="Google Sans Text"/>
              </a:rPr>
              <a:t>), followed by </a:t>
            </a:r>
            <a:r>
              <a:rPr kumimoji="0" lang="en-US" altLang="en-US" sz="1800" i="0" u="none" strike="noStrike" cap="none" normalizeH="0" baseline="0" dirty="0">
                <a:ln>
                  <a:noFill/>
                </a:ln>
                <a:solidFill>
                  <a:srgbClr val="1F1F1F"/>
                </a:solidFill>
                <a:effectLst/>
                <a:latin typeface="Google Sans Text"/>
              </a:rPr>
              <a:t>0.3 Dropout </a:t>
            </a:r>
            <a:r>
              <a:rPr kumimoji="0" lang="en-US" altLang="en-US" sz="1800" b="0" i="0" u="none" strike="noStrike" cap="none" normalizeH="0" baseline="0" dirty="0">
                <a:ln>
                  <a:noFill/>
                </a:ln>
                <a:solidFill>
                  <a:srgbClr val="1F1F1F"/>
                </a:solidFill>
                <a:effectLst/>
                <a:latin typeface="Google Sans Text"/>
              </a:rPr>
              <a:t>for regularization.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F1F1F"/>
                </a:solidFill>
                <a:effectLst/>
                <a:latin typeface="Google Sans Text"/>
              </a:rPr>
              <a:t>Output:</a:t>
            </a:r>
            <a:r>
              <a:rPr kumimoji="0" lang="en-US" altLang="en-US" sz="1800" b="0" i="0" u="none" strike="noStrike" cap="none" normalizeH="0" baseline="0" dirty="0">
                <a:ln>
                  <a:noFill/>
                </a:ln>
                <a:solidFill>
                  <a:srgbClr val="1F1F1F"/>
                </a:solidFill>
                <a:effectLst/>
                <a:latin typeface="Google Sans Text"/>
              </a:rPr>
              <a:t> The final layer uses </a:t>
            </a:r>
            <a:r>
              <a:rPr kumimoji="0" lang="en-US" altLang="en-US" sz="1800" i="0" u="none" strike="noStrike" cap="none" normalizeH="0" baseline="0" dirty="0" err="1">
                <a:ln>
                  <a:noFill/>
                </a:ln>
                <a:solidFill>
                  <a:srgbClr val="1F1F1F"/>
                </a:solidFill>
                <a:effectLst/>
                <a:latin typeface="Google Sans Text"/>
              </a:rPr>
              <a:t>Softmax</a:t>
            </a:r>
            <a:r>
              <a:rPr kumimoji="0" lang="en-US" altLang="en-US" sz="1800" b="0" i="0" u="none" strike="noStrike" cap="none" normalizeH="0" baseline="0" dirty="0">
                <a:ln>
                  <a:noFill/>
                </a:ln>
                <a:solidFill>
                  <a:srgbClr val="1F1F1F"/>
                </a:solidFill>
                <a:effectLst/>
                <a:latin typeface="Google Sans Text"/>
              </a:rPr>
              <a:t> across the 7 emotion classes.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171" name="Picture 3" descr="A Comprehensive Guide to Convolutional Neural Networks | by Maryam Sikander  | Medium">
            <a:extLst>
              <a:ext uri="{FF2B5EF4-FFF2-40B4-BE49-F238E27FC236}">
                <a16:creationId xmlns:a16="http://schemas.microsoft.com/office/drawing/2014/main" id="{5E801CE0-A928-B8C4-41DE-2BB4F9BD2B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135" y="3156290"/>
            <a:ext cx="6168293" cy="304698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C2A168F-2348-9FCD-6170-B0A5C546BBD9}"/>
              </a:ext>
            </a:extLst>
          </p:cNvPr>
          <p:cNvSpPr>
            <a:spLocks noGrp="1"/>
          </p:cNvSpPr>
          <p:nvPr>
            <p:ph type="sldNum" sz="quarter" idx="12"/>
          </p:nvPr>
        </p:nvSpPr>
        <p:spPr/>
        <p:txBody>
          <a:bodyPr/>
          <a:lstStyle/>
          <a:p>
            <a:fld id="{06FEDF93-2BFD-41CA-ABC7-B039102F3792}" type="slidenum">
              <a:rPr lang="en-US" smtClean="0"/>
              <a:t>21</a:t>
            </a:fld>
            <a:endParaRPr lang="en-US" dirty="0"/>
          </a:p>
        </p:txBody>
      </p:sp>
    </p:spTree>
    <p:extLst>
      <p:ext uri="{BB962C8B-B14F-4D97-AF65-F5344CB8AC3E}">
        <p14:creationId xmlns:p14="http://schemas.microsoft.com/office/powerpoint/2010/main" val="2376034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426B9-F39C-BF00-0456-B4B5851FB6D8}"/>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6A06082E-E907-7176-C4EE-BB8FF0A14A22}"/>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C08EBF10-7E0A-8C10-E40C-58FFBD6821B9}"/>
              </a:ext>
              <a:ext uri="{C183D7F6-B498-43B3-948B-1728B52AA6E4}">
                <adec:decorative xmlns:adec="http://schemas.microsoft.com/office/drawing/2017/decorative" val="1"/>
              </a:ext>
            </a:extLst>
          </p:cNvPr>
          <p:cNvCxnSpPr>
            <a:cxnSpLocks/>
          </p:cNvCxnSpPr>
          <p:nvPr/>
        </p:nvCxnSpPr>
        <p:spPr>
          <a:xfrm>
            <a:off x="9324871" y="522897"/>
            <a:ext cx="332935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A10AB6E0-5C85-F069-8B50-71A9C4DA958E}"/>
              </a:ext>
            </a:extLst>
          </p:cNvPr>
          <p:cNvSpPr txBox="1">
            <a:spLocks/>
          </p:cNvSpPr>
          <p:nvPr/>
        </p:nvSpPr>
        <p:spPr>
          <a:xfrm>
            <a:off x="2441750" y="135098"/>
            <a:ext cx="6883121"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Optimization, Training Stabilization </a:t>
            </a:r>
          </a:p>
          <a:p>
            <a:pPr algn="ctr"/>
            <a:r>
              <a:rPr lang="en-US" sz="2800" b="1" dirty="0">
                <a:solidFill>
                  <a:schemeClr val="tx1">
                    <a:lumMod val="75000"/>
                    <a:lumOff val="25000"/>
                  </a:schemeClr>
                </a:solidFill>
              </a:rPr>
              <a:t>and Training Configuration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D8D27465-104D-BD86-321E-DA6235C991A2}"/>
              </a:ext>
              <a:ext uri="{C183D7F6-B498-43B3-948B-1728B52AA6E4}">
                <adec:decorative xmlns:adec="http://schemas.microsoft.com/office/drawing/2017/decorative" val="1"/>
              </a:ext>
            </a:extLst>
          </p:cNvPr>
          <p:cNvCxnSpPr>
            <a:cxnSpLocks/>
          </p:cNvCxnSpPr>
          <p:nvPr/>
        </p:nvCxnSpPr>
        <p:spPr>
          <a:xfrm>
            <a:off x="0" y="522898"/>
            <a:ext cx="2572378"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98ACB48F-6B5C-FFC1-A962-102A09DA38C2}"/>
              </a:ext>
            </a:extLst>
          </p:cNvPr>
          <p:cNvSpPr>
            <a:spLocks noChangeArrowheads="1"/>
          </p:cNvSpPr>
          <p:nvPr/>
        </p:nvSpPr>
        <p:spPr bwMode="auto">
          <a:xfrm>
            <a:off x="1302936" y="1626434"/>
            <a:ext cx="9586127" cy="404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Google Sans Text"/>
              </a:rPr>
              <a:t>Optimization strategies ensured stable and efficient learning:</a:t>
            </a:r>
            <a:endParaRPr kumimoji="0" lang="en-US" altLang="en-US" sz="20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Batch Normalization:</a:t>
            </a:r>
            <a:r>
              <a:rPr kumimoji="0" lang="en-US" altLang="en-US" sz="2000" b="0" i="0" u="none" strike="noStrike" cap="none" normalizeH="0" baseline="0" dirty="0">
                <a:ln>
                  <a:noFill/>
                </a:ln>
                <a:solidFill>
                  <a:schemeClr val="tx1"/>
                </a:solidFill>
                <a:effectLst/>
                <a:latin typeface="Google Sans Text"/>
              </a:rPr>
              <a:t> Used extensively to</a:t>
            </a:r>
            <a:r>
              <a:rPr kumimoji="0" lang="en-US" altLang="en-US" sz="2000" i="0" u="none" strike="noStrike" cap="none" normalizeH="0" baseline="0" dirty="0">
                <a:ln>
                  <a:noFill/>
                </a:ln>
                <a:solidFill>
                  <a:schemeClr val="tx1"/>
                </a:solidFill>
                <a:effectLst/>
                <a:latin typeface="Google Sans Text"/>
              </a:rPr>
              <a:t> stabilize gradients and counteract Internal Covariate Shift</a:t>
            </a:r>
            <a:r>
              <a:rPr kumimoji="0" lang="en-US" altLang="en-US" sz="2000" b="0" i="0" u="none" strike="noStrike" cap="none" normalizeH="0" baseline="0" dirty="0">
                <a:ln>
                  <a:noFill/>
                </a:ln>
                <a:solidFill>
                  <a:schemeClr val="tx1"/>
                </a:solidFill>
                <a:effectLst/>
                <a:latin typeface="Google Sans Text"/>
              </a:rPr>
              <a:t>, allowing for faster training and reducing sensitivity to initialization.</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Google Sans Tex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Google Sans Text"/>
              </a:rPr>
              <a:t>Adam Optimizer:</a:t>
            </a:r>
            <a:r>
              <a:rPr kumimoji="0" lang="en-US" altLang="en-US" sz="2000" b="0" i="0" u="none" strike="noStrike" cap="none" normalizeH="0" baseline="0" dirty="0">
                <a:ln>
                  <a:noFill/>
                </a:ln>
                <a:solidFill>
                  <a:schemeClr val="tx1"/>
                </a:solidFill>
                <a:effectLst/>
                <a:latin typeface="Google Sans Text"/>
              </a:rPr>
              <a:t> Employed with a learning rate of </a:t>
            </a:r>
            <a:r>
              <a:rPr lang="el-GR" sz="2000" dirty="0"/>
              <a:t>η</a:t>
            </a:r>
            <a:r>
              <a:rPr kumimoji="0" lang="en-US" altLang="en-US" sz="2000" b="0" i="0" u="none" strike="noStrike" cap="none" normalizeH="0" baseline="0" dirty="0">
                <a:ln>
                  <a:noFill/>
                </a:ln>
                <a:solidFill>
                  <a:schemeClr val="tx1"/>
                </a:solidFill>
                <a:effectLst/>
                <a:latin typeface="Google Sans Text"/>
              </a:rPr>
              <a:t> = 0.0005. Adam computes </a:t>
            </a:r>
            <a:r>
              <a:rPr kumimoji="0" lang="en-US" altLang="en-US" sz="2000" i="0" u="none" strike="noStrike" cap="none" normalizeH="0" baseline="0" dirty="0">
                <a:ln>
                  <a:noFill/>
                </a:ln>
                <a:solidFill>
                  <a:schemeClr val="tx1"/>
                </a:solidFill>
                <a:effectLst/>
                <a:latin typeface="Google Sans Text"/>
              </a:rPr>
              <a:t>adaptive learning rates </a:t>
            </a:r>
            <a:r>
              <a:rPr kumimoji="0" lang="en-US" altLang="en-US" sz="2000" b="0" i="0" u="none" strike="noStrike" cap="none" normalizeH="0" baseline="0" dirty="0">
                <a:ln>
                  <a:noFill/>
                </a:ln>
                <a:solidFill>
                  <a:schemeClr val="tx1"/>
                </a:solidFill>
                <a:effectLst/>
                <a:latin typeface="Google Sans Text"/>
              </a:rPr>
              <a:t>for each parameter, ensuring generally faster convergence, especially with noisy gradients.</a:t>
            </a:r>
          </a:p>
          <a:p>
            <a:pPr lvl="0" eaLnBrk="0" fontAlgn="base" hangingPunct="0">
              <a:spcBef>
                <a:spcPct val="0"/>
              </a:spcBef>
              <a:spcAft>
                <a:spcPct val="0"/>
              </a:spcAft>
            </a:pPr>
            <a:endParaRPr lang="en-US" altLang="en-US" sz="2000" dirty="0">
              <a:latin typeface="Google Sans Text"/>
            </a:endParaRPr>
          </a:p>
          <a:p>
            <a:pPr lvl="0" eaLnBrk="0" fontAlgn="base" hangingPunct="0">
              <a:spcBef>
                <a:spcPct val="0"/>
              </a:spcBef>
              <a:spcAft>
                <a:spcPct val="0"/>
              </a:spcAft>
              <a:buFontTx/>
              <a:buChar char="•"/>
            </a:pPr>
            <a:r>
              <a:rPr lang="en-US" sz="2000" b="1" dirty="0">
                <a:latin typeface="Google Sans Flex"/>
              </a:rPr>
              <a:t>Training Configuration:</a:t>
            </a:r>
          </a:p>
          <a:p>
            <a:pPr lvl="0" eaLnBrk="0" fontAlgn="base" hangingPunct="0">
              <a:spcBef>
                <a:spcPct val="0"/>
              </a:spcBef>
              <a:spcAft>
                <a:spcPct val="0"/>
              </a:spcAft>
            </a:pPr>
            <a:r>
              <a:rPr lang="en-US" sz="2000" dirty="0">
                <a:latin typeface="Google Sans Flex"/>
              </a:rPr>
              <a:t> • Optimizer: Adam with learning rate 0.0005. </a:t>
            </a:r>
          </a:p>
          <a:p>
            <a:pPr lvl="0" eaLnBrk="0" fontAlgn="base" hangingPunct="0">
              <a:spcBef>
                <a:spcPct val="0"/>
              </a:spcBef>
              <a:spcAft>
                <a:spcPct val="0"/>
              </a:spcAft>
            </a:pPr>
            <a:r>
              <a:rPr lang="en-US" sz="2000" dirty="0">
                <a:latin typeface="Google Sans Flex"/>
              </a:rPr>
              <a:t> • Loss Function: Categorical </a:t>
            </a:r>
            <a:r>
              <a:rPr lang="en-US" sz="2000" dirty="0" err="1">
                <a:latin typeface="Google Sans Flex"/>
              </a:rPr>
              <a:t>Crossentropy</a:t>
            </a:r>
            <a:r>
              <a:rPr lang="en-US" sz="2000" dirty="0">
                <a:latin typeface="Google Sans Flex"/>
              </a:rPr>
              <a:t>.</a:t>
            </a:r>
          </a:p>
          <a:p>
            <a:pPr lvl="0" eaLnBrk="0" fontAlgn="base" hangingPunct="0">
              <a:spcBef>
                <a:spcPct val="0"/>
              </a:spcBef>
              <a:spcAft>
                <a:spcPct val="0"/>
              </a:spcAft>
            </a:pPr>
            <a:r>
              <a:rPr lang="en-US" sz="2000" dirty="0">
                <a:latin typeface="Google Sans Flex"/>
              </a:rPr>
              <a:t> • Epochs: 50.</a:t>
            </a:r>
          </a:p>
          <a:p>
            <a:pPr lvl="0" eaLnBrk="0" fontAlgn="base" hangingPunct="0">
              <a:spcBef>
                <a:spcPct val="0"/>
              </a:spcBef>
              <a:spcAft>
                <a:spcPct val="0"/>
              </a:spcAft>
            </a:pPr>
            <a:r>
              <a:rPr lang="en-US" sz="2000" dirty="0">
                <a:latin typeface="Google Sans Flex"/>
              </a:rPr>
              <a:t> • Callbacks: Early Stopping and Learning Rate Reduction on Plateau</a:t>
            </a:r>
            <a:endParaRPr kumimoji="0" lang="en-US" altLang="en-US" sz="2000" b="0" i="0" u="none" strike="noStrike" cap="none" normalizeH="0" baseline="0" dirty="0">
              <a:ln>
                <a:noFill/>
              </a:ln>
              <a:solidFill>
                <a:schemeClr val="tx1"/>
              </a:solidFill>
              <a:effectLst/>
              <a:latin typeface="Google Sans Flex"/>
            </a:endParaRPr>
          </a:p>
        </p:txBody>
      </p:sp>
      <p:sp>
        <p:nvSpPr>
          <p:cNvPr id="10" name="Slide Number Placeholder 9">
            <a:extLst>
              <a:ext uri="{FF2B5EF4-FFF2-40B4-BE49-F238E27FC236}">
                <a16:creationId xmlns:a16="http://schemas.microsoft.com/office/drawing/2014/main" id="{C2B586E6-A9EC-5FB7-AD2E-CBC0267682C5}"/>
              </a:ext>
            </a:extLst>
          </p:cNvPr>
          <p:cNvSpPr>
            <a:spLocks noGrp="1"/>
          </p:cNvSpPr>
          <p:nvPr>
            <p:ph type="sldNum" sz="quarter" idx="12"/>
          </p:nvPr>
        </p:nvSpPr>
        <p:spPr/>
        <p:txBody>
          <a:bodyPr/>
          <a:lstStyle/>
          <a:p>
            <a:fld id="{06FEDF93-2BFD-41CA-ABC7-B039102F3792}" type="slidenum">
              <a:rPr lang="en-US" smtClean="0"/>
              <a:t>22</a:t>
            </a:fld>
            <a:endParaRPr lang="en-US" dirty="0"/>
          </a:p>
        </p:txBody>
      </p:sp>
    </p:spTree>
    <p:extLst>
      <p:ext uri="{BB962C8B-B14F-4D97-AF65-F5344CB8AC3E}">
        <p14:creationId xmlns:p14="http://schemas.microsoft.com/office/powerpoint/2010/main" val="1457843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ECFA9-9B66-F5AA-E5C1-788B7DC63563}"/>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0AC5D1D3-7DF9-F521-FA96-EB962398294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3F92CBBC-85F6-5D3B-1E8D-BC6524CF82C7}"/>
              </a:ext>
              <a:ext uri="{C183D7F6-B498-43B3-948B-1728B52AA6E4}">
                <adec:decorative xmlns:adec="http://schemas.microsoft.com/office/drawing/2017/decorative" val="1"/>
              </a:ext>
            </a:extLst>
          </p:cNvPr>
          <p:cNvCxnSpPr>
            <a:cxnSpLocks/>
          </p:cNvCxnSpPr>
          <p:nvPr/>
        </p:nvCxnSpPr>
        <p:spPr>
          <a:xfrm>
            <a:off x="8472196" y="522898"/>
            <a:ext cx="37198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50C5D7BE-7EE3-6DF7-4FCF-CC73DE02297A}"/>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Training vs Validation</a:t>
            </a:r>
          </a:p>
          <a:p>
            <a:pPr algn="ctr"/>
            <a:r>
              <a:rPr lang="en-US" sz="2800" b="1" dirty="0">
                <a:solidFill>
                  <a:schemeClr val="tx1">
                    <a:lumMod val="75000"/>
                    <a:lumOff val="25000"/>
                  </a:schemeClr>
                </a:solidFill>
              </a:rPr>
              <a:t>Accuracy (CNN)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CADC73EF-1EDE-411D-C95B-684790EF09A2}"/>
              </a:ext>
              <a:ext uri="{C183D7F6-B498-43B3-948B-1728B52AA6E4}">
                <adec:decorative xmlns:adec="http://schemas.microsoft.com/office/drawing/2017/decorative" val="1"/>
              </a:ext>
            </a:extLst>
          </p:cNvPr>
          <p:cNvCxnSpPr>
            <a:cxnSpLocks/>
          </p:cNvCxnSpPr>
          <p:nvPr/>
        </p:nvCxnSpPr>
        <p:spPr>
          <a:xfrm>
            <a:off x="0" y="522898"/>
            <a:ext cx="372291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9218" name="Picture 2">
            <a:extLst>
              <a:ext uri="{FF2B5EF4-FFF2-40B4-BE49-F238E27FC236}">
                <a16:creationId xmlns:a16="http://schemas.microsoft.com/office/drawing/2014/main" id="{4ABD1F5D-7D05-D2B0-E9F2-C3D70DCE34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9582" y="1432435"/>
            <a:ext cx="7673277" cy="426293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AA42BAF-D464-8E28-8FA6-A81194D02B13}"/>
              </a:ext>
            </a:extLst>
          </p:cNvPr>
          <p:cNvSpPr>
            <a:spLocks noChangeArrowheads="1"/>
          </p:cNvSpPr>
          <p:nvPr/>
        </p:nvSpPr>
        <p:spPr bwMode="auto">
          <a:xfrm>
            <a:off x="361741" y="2044005"/>
            <a:ext cx="3486778"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training history shows rapid performance increase in the first 10 epochs, stabilizing around epoch 20. The model achieved high final accuracy ( ~76 training, ~ 75\% validation). Crucially, the minimal gap between the curves confirms good generalization and no significant overfitting, thanks to the use of Batch Normalization and Dropout.</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212769DC-2BEF-C7C2-AC7C-737730DF774D}"/>
              </a:ext>
            </a:extLst>
          </p:cNvPr>
          <p:cNvSpPr>
            <a:spLocks noGrp="1"/>
          </p:cNvSpPr>
          <p:nvPr>
            <p:ph type="sldNum" sz="quarter" idx="12"/>
          </p:nvPr>
        </p:nvSpPr>
        <p:spPr/>
        <p:txBody>
          <a:bodyPr/>
          <a:lstStyle/>
          <a:p>
            <a:fld id="{06FEDF93-2BFD-41CA-ABC7-B039102F3792}" type="slidenum">
              <a:rPr lang="en-US" smtClean="0"/>
              <a:t>23</a:t>
            </a:fld>
            <a:endParaRPr lang="en-US" dirty="0"/>
          </a:p>
        </p:txBody>
      </p:sp>
      <p:sp>
        <p:nvSpPr>
          <p:cNvPr id="9" name="TextBox 8">
            <a:extLst>
              <a:ext uri="{FF2B5EF4-FFF2-40B4-BE49-F238E27FC236}">
                <a16:creationId xmlns:a16="http://schemas.microsoft.com/office/drawing/2014/main" id="{E81595E1-2D20-2342-6192-CF2F5F00EE71}"/>
              </a:ext>
            </a:extLst>
          </p:cNvPr>
          <p:cNvSpPr txBox="1"/>
          <p:nvPr/>
        </p:nvSpPr>
        <p:spPr>
          <a:xfrm>
            <a:off x="5249428" y="5770228"/>
            <a:ext cx="6104372" cy="369332"/>
          </a:xfrm>
          <a:prstGeom prst="rect">
            <a:avLst/>
          </a:prstGeom>
          <a:noFill/>
        </p:spPr>
        <p:txBody>
          <a:bodyPr wrap="square">
            <a:spAutoFit/>
          </a:bodyPr>
          <a:lstStyle/>
          <a:p>
            <a:r>
              <a:rPr lang="en-US" dirty="0"/>
              <a:t>Figure 9: Train accuracy vs Validation accuracy for the CNN </a:t>
            </a:r>
            <a:endParaRPr lang="en-GB" dirty="0"/>
          </a:p>
        </p:txBody>
      </p:sp>
    </p:spTree>
    <p:extLst>
      <p:ext uri="{BB962C8B-B14F-4D97-AF65-F5344CB8AC3E}">
        <p14:creationId xmlns:p14="http://schemas.microsoft.com/office/powerpoint/2010/main" val="208112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F890B-16DB-49FC-237E-1A3467B3DC62}"/>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339F1EAA-C524-E79A-A89F-8C533650E4E2}"/>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E070D6AA-1BE4-532C-920D-1C594CC19ED4}"/>
              </a:ext>
              <a:ext uri="{C183D7F6-B498-43B3-948B-1728B52AA6E4}">
                <adec:decorative xmlns:adec="http://schemas.microsoft.com/office/drawing/2017/decorative" val="1"/>
              </a:ext>
            </a:extLst>
          </p:cNvPr>
          <p:cNvCxnSpPr>
            <a:cxnSpLocks/>
          </p:cNvCxnSpPr>
          <p:nvPr/>
        </p:nvCxnSpPr>
        <p:spPr>
          <a:xfrm>
            <a:off x="8472196" y="522898"/>
            <a:ext cx="37198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975482D-F71A-F284-C66E-DFF92F902246}"/>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Training vs Validation</a:t>
            </a:r>
          </a:p>
          <a:p>
            <a:pPr algn="ctr"/>
            <a:r>
              <a:rPr lang="en-US" sz="2800" b="1" dirty="0">
                <a:solidFill>
                  <a:schemeClr val="tx1">
                    <a:lumMod val="75000"/>
                    <a:lumOff val="25000"/>
                  </a:schemeClr>
                </a:solidFill>
              </a:rPr>
              <a:t>Loss (CNN)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BBB0B172-BEAF-2635-446B-12A908B14DD4}"/>
              </a:ext>
              <a:ext uri="{C183D7F6-B498-43B3-948B-1728B52AA6E4}">
                <adec:decorative xmlns:adec="http://schemas.microsoft.com/office/drawing/2017/decorative" val="1"/>
              </a:ext>
            </a:extLst>
          </p:cNvPr>
          <p:cNvCxnSpPr>
            <a:cxnSpLocks/>
          </p:cNvCxnSpPr>
          <p:nvPr/>
        </p:nvCxnSpPr>
        <p:spPr>
          <a:xfrm>
            <a:off x="0" y="522898"/>
            <a:ext cx="372291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0244" name="Picture 4">
            <a:extLst>
              <a:ext uri="{FF2B5EF4-FFF2-40B4-BE49-F238E27FC236}">
                <a16:creationId xmlns:a16="http://schemas.microsoft.com/office/drawing/2014/main" id="{44715DB3-EA42-84B5-945D-51B957BB1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0614" y="1298495"/>
            <a:ext cx="6973370" cy="47431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98E25E7-393A-43A3-10C4-B42FC168A311}"/>
              </a:ext>
            </a:extLst>
          </p:cNvPr>
          <p:cNvSpPr>
            <a:spLocks noChangeArrowheads="1"/>
          </p:cNvSpPr>
          <p:nvPr/>
        </p:nvSpPr>
        <p:spPr bwMode="auto">
          <a:xfrm>
            <a:off x="329083" y="2323068"/>
            <a:ext cx="3951514" cy="2530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loss graph shows a steep decline for both sets in the first 15 epochs, confirming effective feature learning. Training loss stabilized near 0.65 while validation loss plateaued around 0.80. Although a slight generalization gap exists, the stable validation loss confirms the model maintains good robustness without degrading performance.</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4E76E73F-A1F4-39EE-8305-AB9530F20C68}"/>
              </a:ext>
            </a:extLst>
          </p:cNvPr>
          <p:cNvSpPr>
            <a:spLocks noGrp="1"/>
          </p:cNvSpPr>
          <p:nvPr>
            <p:ph type="sldNum" sz="quarter" idx="12"/>
          </p:nvPr>
        </p:nvSpPr>
        <p:spPr/>
        <p:txBody>
          <a:bodyPr/>
          <a:lstStyle/>
          <a:p>
            <a:fld id="{06FEDF93-2BFD-41CA-ABC7-B039102F3792}" type="slidenum">
              <a:rPr lang="en-US" smtClean="0"/>
              <a:t>24</a:t>
            </a:fld>
            <a:endParaRPr lang="en-US" dirty="0"/>
          </a:p>
        </p:txBody>
      </p:sp>
      <p:sp>
        <p:nvSpPr>
          <p:cNvPr id="9" name="TextBox 8">
            <a:extLst>
              <a:ext uri="{FF2B5EF4-FFF2-40B4-BE49-F238E27FC236}">
                <a16:creationId xmlns:a16="http://schemas.microsoft.com/office/drawing/2014/main" id="{6128D03F-72D4-5A3A-43FA-42A847C5BFD3}"/>
              </a:ext>
            </a:extLst>
          </p:cNvPr>
          <p:cNvSpPr txBox="1"/>
          <p:nvPr/>
        </p:nvSpPr>
        <p:spPr>
          <a:xfrm>
            <a:off x="6478675" y="6150436"/>
            <a:ext cx="6104372" cy="369332"/>
          </a:xfrm>
          <a:prstGeom prst="rect">
            <a:avLst/>
          </a:prstGeom>
          <a:noFill/>
        </p:spPr>
        <p:txBody>
          <a:bodyPr wrap="square">
            <a:spAutoFit/>
          </a:bodyPr>
          <a:lstStyle/>
          <a:p>
            <a:r>
              <a:rPr lang="fr-FR" dirty="0"/>
              <a:t>Figure 10: Train </a:t>
            </a:r>
            <a:r>
              <a:rPr lang="fr-FR" dirty="0" err="1"/>
              <a:t>loss</a:t>
            </a:r>
            <a:r>
              <a:rPr lang="fr-FR" dirty="0"/>
              <a:t> vs Validation </a:t>
            </a:r>
            <a:r>
              <a:rPr lang="fr-FR" dirty="0" err="1"/>
              <a:t>loss</a:t>
            </a:r>
            <a:endParaRPr lang="en-GB" dirty="0"/>
          </a:p>
        </p:txBody>
      </p:sp>
    </p:spTree>
    <p:extLst>
      <p:ext uri="{BB962C8B-B14F-4D97-AF65-F5344CB8AC3E}">
        <p14:creationId xmlns:p14="http://schemas.microsoft.com/office/powerpoint/2010/main" val="105009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DD7F1-DD81-7330-4AF7-1CEA88DFAB92}"/>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FFEE9286-6027-0964-ACD1-3650A56C295A}"/>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74E71387-D955-FD39-CAA2-2FDD61B8D3EE}"/>
              </a:ext>
              <a:ext uri="{C183D7F6-B498-43B3-948B-1728B52AA6E4}">
                <adec:decorative xmlns:adec="http://schemas.microsoft.com/office/drawing/2017/decorative" val="1"/>
              </a:ext>
            </a:extLst>
          </p:cNvPr>
          <p:cNvCxnSpPr>
            <a:cxnSpLocks/>
          </p:cNvCxnSpPr>
          <p:nvPr/>
        </p:nvCxnSpPr>
        <p:spPr>
          <a:xfrm>
            <a:off x="8472196" y="522898"/>
            <a:ext cx="37198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E84D525-2DD0-D57E-42D1-9148C80461BF}"/>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CNN Confusion </a:t>
            </a:r>
          </a:p>
          <a:p>
            <a:pPr algn="ctr"/>
            <a:r>
              <a:rPr lang="en-US" sz="2800" b="1" dirty="0">
                <a:solidFill>
                  <a:schemeClr val="tx1">
                    <a:lumMod val="75000"/>
                    <a:lumOff val="25000"/>
                  </a:schemeClr>
                </a:solidFill>
              </a:rPr>
              <a:t>matrix</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9AA69AE7-5ADC-438B-20E8-83F818EBB35B}"/>
              </a:ext>
              <a:ext uri="{C183D7F6-B498-43B3-948B-1728B52AA6E4}">
                <adec:decorative xmlns:adec="http://schemas.microsoft.com/office/drawing/2017/decorative" val="1"/>
              </a:ext>
            </a:extLst>
          </p:cNvPr>
          <p:cNvCxnSpPr>
            <a:cxnSpLocks/>
          </p:cNvCxnSpPr>
          <p:nvPr/>
        </p:nvCxnSpPr>
        <p:spPr>
          <a:xfrm>
            <a:off x="0" y="522898"/>
            <a:ext cx="372291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1266" name="Picture 2">
            <a:extLst>
              <a:ext uri="{FF2B5EF4-FFF2-40B4-BE49-F238E27FC236}">
                <a16:creationId xmlns:a16="http://schemas.microsoft.com/office/drawing/2014/main" id="{5B2DE5F7-8E16-D718-7033-3CBB6E5F00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3310" y="1055657"/>
            <a:ext cx="5774579" cy="48972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482DBBD-9FD2-87D2-C980-3B52052C8BE1}"/>
              </a:ext>
            </a:extLst>
          </p:cNvPr>
          <p:cNvSpPr>
            <a:spLocks noChangeArrowheads="1"/>
          </p:cNvSpPr>
          <p:nvPr/>
        </p:nvSpPr>
        <p:spPr bwMode="auto">
          <a:xfrm>
            <a:off x="512466" y="2182505"/>
            <a:ext cx="4642338"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CNN confusion matrix shows high recall for distinct emotions like 'Happy' (highest), 'Surprise', 'Sad', and 'Angry'. Performance drops significantly for 'Disgust' (lowest recall) and 'Fear', which are often confused with other classes like 'Neutral' and 'Sad'. This highlights the CNN's difficulty in resolving subtle feature overlap between ambiguous and under-represented emotional states.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6E32B1FA-DC71-6346-D75A-7AED2F1FFB2C}"/>
              </a:ext>
            </a:extLst>
          </p:cNvPr>
          <p:cNvSpPr>
            <a:spLocks noGrp="1"/>
          </p:cNvSpPr>
          <p:nvPr>
            <p:ph type="sldNum" sz="quarter" idx="12"/>
          </p:nvPr>
        </p:nvSpPr>
        <p:spPr/>
        <p:txBody>
          <a:bodyPr/>
          <a:lstStyle/>
          <a:p>
            <a:fld id="{06FEDF93-2BFD-41CA-ABC7-B039102F3792}" type="slidenum">
              <a:rPr lang="en-US" smtClean="0"/>
              <a:t>25</a:t>
            </a:fld>
            <a:endParaRPr lang="en-US" dirty="0"/>
          </a:p>
        </p:txBody>
      </p:sp>
      <p:sp>
        <p:nvSpPr>
          <p:cNvPr id="9" name="TextBox 8">
            <a:extLst>
              <a:ext uri="{FF2B5EF4-FFF2-40B4-BE49-F238E27FC236}">
                <a16:creationId xmlns:a16="http://schemas.microsoft.com/office/drawing/2014/main" id="{5322EB22-FD00-F2BC-2EF1-26EBA181B010}"/>
              </a:ext>
            </a:extLst>
          </p:cNvPr>
          <p:cNvSpPr txBox="1"/>
          <p:nvPr/>
        </p:nvSpPr>
        <p:spPr>
          <a:xfrm>
            <a:off x="6544407" y="5977189"/>
            <a:ext cx="4132384" cy="646331"/>
          </a:xfrm>
          <a:prstGeom prst="rect">
            <a:avLst/>
          </a:prstGeom>
          <a:noFill/>
        </p:spPr>
        <p:txBody>
          <a:bodyPr wrap="square">
            <a:spAutoFit/>
          </a:bodyPr>
          <a:lstStyle/>
          <a:p>
            <a:r>
              <a:rPr lang="en-US" dirty="0"/>
              <a:t>Figure 11: Normalized Confusion Matrix for the 7 emotion classes OF THE CNN </a:t>
            </a:r>
            <a:endParaRPr lang="en-GB" dirty="0"/>
          </a:p>
        </p:txBody>
      </p:sp>
    </p:spTree>
    <p:extLst>
      <p:ext uri="{BB962C8B-B14F-4D97-AF65-F5344CB8AC3E}">
        <p14:creationId xmlns:p14="http://schemas.microsoft.com/office/powerpoint/2010/main" val="576068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92485-688F-C8FC-A90A-9188B74A5A75}"/>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95BEDCDF-F782-240F-D674-8E10037E8F71}"/>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47DC6113-97A6-C772-1875-111164C81579}"/>
              </a:ext>
              <a:ext uri="{C183D7F6-B498-43B3-948B-1728B52AA6E4}">
                <adec:decorative xmlns:adec="http://schemas.microsoft.com/office/drawing/2017/decorative" val="1"/>
              </a:ext>
            </a:extLst>
          </p:cNvPr>
          <p:cNvCxnSpPr>
            <a:cxnSpLocks/>
          </p:cNvCxnSpPr>
          <p:nvPr/>
        </p:nvCxnSpPr>
        <p:spPr>
          <a:xfrm>
            <a:off x="7767376" y="522898"/>
            <a:ext cx="442462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1DDCAD7-0D3B-F6D2-0636-823BF6908AD5}"/>
              </a:ext>
            </a:extLst>
          </p:cNvPr>
          <p:cNvSpPr txBox="1">
            <a:spLocks/>
          </p:cNvSpPr>
          <p:nvPr/>
        </p:nvSpPr>
        <p:spPr>
          <a:xfrm>
            <a:off x="4560695" y="255681"/>
            <a:ext cx="3070609"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Saliency Map</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CF920DE8-6F78-C10D-1648-E94D9C3AD23C}"/>
              </a:ext>
              <a:ext uri="{C183D7F6-B498-43B3-948B-1728B52AA6E4}">
                <adec:decorative xmlns:adec="http://schemas.microsoft.com/office/drawing/2017/decorative" val="1"/>
              </a:ext>
            </a:extLst>
          </p:cNvPr>
          <p:cNvCxnSpPr>
            <a:cxnSpLocks/>
          </p:cNvCxnSpPr>
          <p:nvPr/>
        </p:nvCxnSpPr>
        <p:spPr>
          <a:xfrm>
            <a:off x="0" y="522898"/>
            <a:ext cx="44246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F6902C6-6A40-EF05-5DA2-C61B900F9B91}"/>
              </a:ext>
            </a:extLst>
          </p:cNvPr>
          <p:cNvSpPr txBox="1"/>
          <p:nvPr/>
        </p:nvSpPr>
        <p:spPr>
          <a:xfrm>
            <a:off x="1298120" y="2632558"/>
            <a:ext cx="9595758" cy="1323439"/>
          </a:xfrm>
          <a:prstGeom prst="rect">
            <a:avLst/>
          </a:prstGeom>
          <a:noFill/>
        </p:spPr>
        <p:txBody>
          <a:bodyPr wrap="square">
            <a:spAutoFit/>
          </a:bodyPr>
          <a:lstStyle/>
          <a:p>
            <a:pPr algn="ctr"/>
            <a:r>
              <a:rPr lang="en-US" sz="2000" dirty="0">
                <a:latin typeface="Google Sans Flex"/>
              </a:rPr>
              <a:t>To understand which image regions the CNN used for classification, we applied the Saliency Map visualization. This technique computes the gradient of the class score with respect to input pixels, identifying the most discriminative regions. What we did was apply the Saliency Map to a correctly classified image (for example 'sad') and analyze the heatmap.</a:t>
            </a:r>
            <a:endParaRPr lang="en-GB" sz="2000" dirty="0">
              <a:latin typeface="Google Sans Flex"/>
            </a:endParaRPr>
          </a:p>
        </p:txBody>
      </p:sp>
      <p:sp>
        <p:nvSpPr>
          <p:cNvPr id="12" name="Slide Number Placeholder 11">
            <a:extLst>
              <a:ext uri="{FF2B5EF4-FFF2-40B4-BE49-F238E27FC236}">
                <a16:creationId xmlns:a16="http://schemas.microsoft.com/office/drawing/2014/main" id="{C74D615C-2D62-4F43-CFB5-DCF27BCB9075}"/>
              </a:ext>
            </a:extLst>
          </p:cNvPr>
          <p:cNvSpPr>
            <a:spLocks noGrp="1"/>
          </p:cNvSpPr>
          <p:nvPr>
            <p:ph type="sldNum" sz="quarter" idx="12"/>
          </p:nvPr>
        </p:nvSpPr>
        <p:spPr/>
        <p:txBody>
          <a:bodyPr/>
          <a:lstStyle/>
          <a:p>
            <a:fld id="{06FEDF93-2BFD-41CA-ABC7-B039102F3792}" type="slidenum">
              <a:rPr lang="en-US" smtClean="0"/>
              <a:t>26</a:t>
            </a:fld>
            <a:endParaRPr lang="en-US" dirty="0"/>
          </a:p>
        </p:txBody>
      </p:sp>
    </p:spTree>
    <p:extLst>
      <p:ext uri="{BB962C8B-B14F-4D97-AF65-F5344CB8AC3E}">
        <p14:creationId xmlns:p14="http://schemas.microsoft.com/office/powerpoint/2010/main" val="11411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E032F-9B17-89C2-C90E-5F0DC755860A}"/>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19F5815B-6F47-B9C5-9AE3-D679D5F3E0AE}"/>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B687C1D0-1D93-8235-F24F-23B224600781}"/>
              </a:ext>
              <a:ext uri="{C183D7F6-B498-43B3-948B-1728B52AA6E4}">
                <adec:decorative xmlns:adec="http://schemas.microsoft.com/office/drawing/2017/decorative" val="1"/>
              </a:ext>
            </a:extLst>
          </p:cNvPr>
          <p:cNvCxnSpPr>
            <a:cxnSpLocks/>
          </p:cNvCxnSpPr>
          <p:nvPr/>
        </p:nvCxnSpPr>
        <p:spPr>
          <a:xfrm>
            <a:off x="8472196" y="522898"/>
            <a:ext cx="37198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F863CC5-D998-7E48-CE14-F874F3E96E72}"/>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Saliency Map</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9EF8653A-0CE1-D57D-C702-BF8999AE6EB4}"/>
              </a:ext>
              <a:ext uri="{C183D7F6-B498-43B3-948B-1728B52AA6E4}">
                <adec:decorative xmlns:adec="http://schemas.microsoft.com/office/drawing/2017/decorative" val="1"/>
              </a:ext>
            </a:extLst>
          </p:cNvPr>
          <p:cNvCxnSpPr>
            <a:cxnSpLocks/>
          </p:cNvCxnSpPr>
          <p:nvPr/>
        </p:nvCxnSpPr>
        <p:spPr>
          <a:xfrm>
            <a:off x="0" y="522898"/>
            <a:ext cx="372291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2290" name="Picture 2">
            <a:extLst>
              <a:ext uri="{FF2B5EF4-FFF2-40B4-BE49-F238E27FC236}">
                <a16:creationId xmlns:a16="http://schemas.microsoft.com/office/drawing/2014/main" id="{772D8419-0162-8A61-C77B-7CEE01E004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5680" y="855297"/>
            <a:ext cx="9566950" cy="335341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EB6A772-6F16-D13A-62B4-A2E116824AA3}"/>
              </a:ext>
            </a:extLst>
          </p:cNvPr>
          <p:cNvSpPr>
            <a:spLocks noChangeArrowheads="1"/>
          </p:cNvSpPr>
          <p:nvPr/>
        </p:nvSpPr>
        <p:spPr bwMode="auto">
          <a:xfrm>
            <a:off x="834012" y="5227106"/>
            <a:ext cx="1045028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Saliency Map visualization confirmed that the CNN's focus was accurately concentrated on key physiognomic areas, specifically the eyes and mouth curvature, which are the facial landmarks associated with the classified emotion ('sad'). The low activation in the background confirms the model learned to extract only the discriminative facial patterns.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329D5930-8E02-64A4-E987-CF193C930FCB}"/>
              </a:ext>
            </a:extLst>
          </p:cNvPr>
          <p:cNvSpPr>
            <a:spLocks noGrp="1"/>
          </p:cNvSpPr>
          <p:nvPr>
            <p:ph type="sldNum" sz="quarter" idx="12"/>
          </p:nvPr>
        </p:nvSpPr>
        <p:spPr/>
        <p:txBody>
          <a:bodyPr/>
          <a:lstStyle/>
          <a:p>
            <a:fld id="{06FEDF93-2BFD-41CA-ABC7-B039102F3792}" type="slidenum">
              <a:rPr lang="en-US" smtClean="0"/>
              <a:t>27</a:t>
            </a:fld>
            <a:endParaRPr lang="en-US" dirty="0"/>
          </a:p>
        </p:txBody>
      </p:sp>
      <p:sp>
        <p:nvSpPr>
          <p:cNvPr id="9" name="TextBox 8">
            <a:extLst>
              <a:ext uri="{FF2B5EF4-FFF2-40B4-BE49-F238E27FC236}">
                <a16:creationId xmlns:a16="http://schemas.microsoft.com/office/drawing/2014/main" id="{5D37495A-C2A2-F3AF-50A6-2E4E51535230}"/>
              </a:ext>
            </a:extLst>
          </p:cNvPr>
          <p:cNvSpPr txBox="1"/>
          <p:nvPr/>
        </p:nvSpPr>
        <p:spPr>
          <a:xfrm>
            <a:off x="3043813" y="4303776"/>
            <a:ext cx="6622701" cy="646331"/>
          </a:xfrm>
          <a:prstGeom prst="rect">
            <a:avLst/>
          </a:prstGeom>
          <a:noFill/>
        </p:spPr>
        <p:txBody>
          <a:bodyPr wrap="square">
            <a:spAutoFit/>
          </a:bodyPr>
          <a:lstStyle/>
          <a:p>
            <a:r>
              <a:rPr lang="en-US" dirty="0"/>
              <a:t>Figure 12: Saliency Map visualization for a sample classified as ’sad’. Left: Original image. Center: Saliency heatmap. Right: Overlay</a:t>
            </a:r>
            <a:endParaRPr lang="en-GB" dirty="0"/>
          </a:p>
        </p:txBody>
      </p:sp>
    </p:spTree>
    <p:extLst>
      <p:ext uri="{BB962C8B-B14F-4D97-AF65-F5344CB8AC3E}">
        <p14:creationId xmlns:p14="http://schemas.microsoft.com/office/powerpoint/2010/main" val="2003113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F5764A-D41E-44A3-035D-3E6993F01FA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FAB181-69D5-0768-6BBA-27199692DE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F4E514-9494-A575-A82A-C923E221A0C4}"/>
              </a:ext>
            </a:extLst>
          </p:cNvPr>
          <p:cNvSpPr>
            <a:spLocks noGrp="1"/>
          </p:cNvSpPr>
          <p:nvPr>
            <p:ph type="ctrTitle"/>
          </p:nvPr>
        </p:nvSpPr>
        <p:spPr>
          <a:xfrm>
            <a:off x="638882" y="3577456"/>
            <a:ext cx="10909640" cy="1687814"/>
          </a:xfrm>
        </p:spPr>
        <p:txBody>
          <a:bodyPr anchor="b">
            <a:normAutofit/>
          </a:bodyPr>
          <a:lstStyle/>
          <a:p>
            <a:r>
              <a:rPr lang="en-GB" sz="6600" dirty="0"/>
              <a:t>5. Conclusion</a:t>
            </a:r>
          </a:p>
        </p:txBody>
      </p:sp>
      <p:pic>
        <p:nvPicPr>
          <p:cNvPr id="4" name="Picture 3" descr="A blue brain with black lines and dots&#10;&#10;AI-generated content may be incorrect.">
            <a:extLst>
              <a:ext uri="{FF2B5EF4-FFF2-40B4-BE49-F238E27FC236}">
                <a16:creationId xmlns:a16="http://schemas.microsoft.com/office/drawing/2014/main" id="{EAB95F63-9610-9EFA-7CC6-FDF747880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1562" y="591670"/>
            <a:ext cx="5324279" cy="2742004"/>
          </a:xfrm>
          <a:prstGeom prst="rect">
            <a:avLst/>
          </a:prstGeom>
        </p:spPr>
      </p:pic>
      <p:sp>
        <p:nvSpPr>
          <p:cNvPr id="11" name="sketch line">
            <a:extLst>
              <a:ext uri="{FF2B5EF4-FFF2-40B4-BE49-F238E27FC236}">
                <a16:creationId xmlns:a16="http://schemas.microsoft.com/office/drawing/2014/main" id="{1B4AEDDE-9812-051C-106A-DDED86B88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43C5AB2E-6FD5-7F93-4392-FA9D1BEC824E}"/>
              </a:ext>
            </a:extLst>
          </p:cNvPr>
          <p:cNvSpPr>
            <a:spLocks noGrp="1"/>
          </p:cNvSpPr>
          <p:nvPr>
            <p:ph type="sldNum" sz="quarter" idx="12"/>
          </p:nvPr>
        </p:nvSpPr>
        <p:spPr/>
        <p:txBody>
          <a:bodyPr/>
          <a:lstStyle/>
          <a:p>
            <a:fld id="{06FEDF93-2BFD-41CA-ABC7-B039102F3792}" type="slidenum">
              <a:rPr lang="en-US" smtClean="0"/>
              <a:t>28</a:t>
            </a:fld>
            <a:endParaRPr lang="en-US" dirty="0"/>
          </a:p>
        </p:txBody>
      </p:sp>
    </p:spTree>
    <p:extLst>
      <p:ext uri="{BB962C8B-B14F-4D97-AF65-F5344CB8AC3E}">
        <p14:creationId xmlns:p14="http://schemas.microsoft.com/office/powerpoint/2010/main" val="141278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CNN vs SVM models</a:t>
            </a:r>
          </a:p>
          <a:p>
            <a:pPr algn="ctr"/>
            <a:r>
              <a:rPr lang="en-US" sz="2800" b="1" dirty="0">
                <a:solidFill>
                  <a:schemeClr val="tx1">
                    <a:lumMod val="75000"/>
                    <a:lumOff val="25000"/>
                  </a:schemeClr>
                </a:solidFill>
              </a:rPr>
              <a:t>comparison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09C05F0C-382F-476A-A0D2-932E111A7F9A}"/>
              </a:ext>
            </a:extLst>
          </p:cNvPr>
          <p:cNvSpPr>
            <a:spLocks noGrp="1"/>
          </p:cNvSpPr>
          <p:nvPr>
            <p:ph type="title" idx="4294967295"/>
          </p:nvPr>
        </p:nvSpPr>
        <p:spPr>
          <a:xfrm>
            <a:off x="0" y="365125"/>
            <a:ext cx="10515600" cy="1325563"/>
          </a:xfrm>
        </p:spPr>
        <p:txBody>
          <a:bodyPr/>
          <a:lstStyle/>
          <a:p>
            <a:r>
              <a:rPr lang="en-US" dirty="0"/>
              <a:t>Project analysis slide 11</a:t>
            </a:r>
          </a:p>
        </p:txBody>
      </p:sp>
      <p:pic>
        <p:nvPicPr>
          <p:cNvPr id="8194" name="Picture 2">
            <a:extLst>
              <a:ext uri="{FF2B5EF4-FFF2-40B4-BE49-F238E27FC236}">
                <a16:creationId xmlns:a16="http://schemas.microsoft.com/office/drawing/2014/main" id="{D303B137-A07C-E562-C3EF-9EF1F1815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9411" y="1193402"/>
            <a:ext cx="7154389" cy="46124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53DE5D53-86A2-8ADC-4928-0DD851EC89AD}"/>
              </a:ext>
            </a:extLst>
          </p:cNvPr>
          <p:cNvSpPr>
            <a:spLocks noChangeArrowheads="1"/>
          </p:cNvSpPr>
          <p:nvPr/>
        </p:nvSpPr>
        <p:spPr bwMode="auto">
          <a:xfrm>
            <a:off x="228600" y="2253145"/>
            <a:ext cx="3730451"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results clearly show the proposed CNN significantly outperformed all SVM variants, achieving the highest test accuracy of 75.6%. Among the traditional classifiers, the RBF SVM was the most competitive, reaching 63.0%, but still lagged the CNN by over 12%. The Linear (57.5%) and Polynomial (52.4%) SVMs performed the poorest.</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F9335758-B1EF-4D95-70DC-7514262E5D00}"/>
              </a:ext>
            </a:extLst>
          </p:cNvPr>
          <p:cNvSpPr>
            <a:spLocks noGrp="1"/>
          </p:cNvSpPr>
          <p:nvPr>
            <p:ph type="sldNum" sz="quarter" idx="12"/>
          </p:nvPr>
        </p:nvSpPr>
        <p:spPr/>
        <p:txBody>
          <a:bodyPr/>
          <a:lstStyle/>
          <a:p>
            <a:fld id="{06FEDF93-2BFD-41CA-ABC7-B039102F3792}" type="slidenum">
              <a:rPr lang="en-US" smtClean="0"/>
              <a:t>29</a:t>
            </a:fld>
            <a:endParaRPr lang="en-US" dirty="0"/>
          </a:p>
        </p:txBody>
      </p:sp>
      <p:sp>
        <p:nvSpPr>
          <p:cNvPr id="9" name="TextBox 8">
            <a:extLst>
              <a:ext uri="{FF2B5EF4-FFF2-40B4-BE49-F238E27FC236}">
                <a16:creationId xmlns:a16="http://schemas.microsoft.com/office/drawing/2014/main" id="{449CDE12-C750-49B2-B33A-F43EE4A0EADB}"/>
              </a:ext>
            </a:extLst>
          </p:cNvPr>
          <p:cNvSpPr txBox="1"/>
          <p:nvPr/>
        </p:nvSpPr>
        <p:spPr>
          <a:xfrm>
            <a:off x="5154073" y="5805879"/>
            <a:ext cx="6104372" cy="646331"/>
          </a:xfrm>
          <a:prstGeom prst="rect">
            <a:avLst/>
          </a:prstGeom>
          <a:noFill/>
        </p:spPr>
        <p:txBody>
          <a:bodyPr wrap="square">
            <a:spAutoFit/>
          </a:bodyPr>
          <a:lstStyle/>
          <a:p>
            <a:r>
              <a:rPr lang="en-US" dirty="0"/>
              <a:t>Figure 13: Final performance comparison (Test Accuracy) between the proposed CNN and SVM baselines</a:t>
            </a:r>
            <a:endParaRPr lang="en-GB" dirty="0"/>
          </a:p>
        </p:txBody>
      </p:sp>
    </p:spTree>
    <p:extLst>
      <p:ext uri="{BB962C8B-B14F-4D97-AF65-F5344CB8AC3E}">
        <p14:creationId xmlns:p14="http://schemas.microsoft.com/office/powerpoint/2010/main" val="2275478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93BA2D-E616-57CD-BBC7-5913E0286F94}"/>
            </a:ext>
          </a:extLst>
        </p:cNvPr>
        <p:cNvGrpSpPr/>
        <p:nvPr/>
      </p:nvGrpSpPr>
      <p:grpSpPr>
        <a:xfrm>
          <a:off x="0" y="0"/>
          <a:ext cx="0" cy="0"/>
          <a:chOff x="0" y="0"/>
          <a:chExt cx="0" cy="0"/>
        </a:xfrm>
      </p:grpSpPr>
      <p:sp>
        <p:nvSpPr>
          <p:cNvPr id="9" name="Flowchart: Document 8">
            <a:extLst>
              <a:ext uri="{FF2B5EF4-FFF2-40B4-BE49-F238E27FC236}">
                <a16:creationId xmlns:a16="http://schemas.microsoft.com/office/drawing/2014/main" id="{860E9E83-1284-2542-ACB6-C034BB9C9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437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601274-6392-C3A4-1F98-E2CE86FA8769}"/>
              </a:ext>
            </a:extLst>
          </p:cNvPr>
          <p:cNvSpPr>
            <a:spLocks noGrp="1"/>
          </p:cNvSpPr>
          <p:nvPr>
            <p:ph type="title"/>
          </p:nvPr>
        </p:nvSpPr>
        <p:spPr>
          <a:xfrm>
            <a:off x="838200" y="171162"/>
            <a:ext cx="2840182" cy="2371148"/>
          </a:xfrm>
        </p:spPr>
        <p:txBody>
          <a:bodyPr vert="horz" lIns="91440" tIns="45720" rIns="91440" bIns="45720" rtlCol="0" anchor="ctr">
            <a:normAutofit/>
          </a:bodyPr>
          <a:lstStyle/>
          <a:p>
            <a:pPr algn="ctr"/>
            <a:r>
              <a:rPr lang="en-US" sz="3200" b="1" kern="1200" dirty="0">
                <a:solidFill>
                  <a:srgbClr val="FFFFFF"/>
                </a:solidFill>
                <a:latin typeface="+mj-lt"/>
                <a:ea typeface="+mj-ea"/>
                <a:cs typeface="+mj-cs"/>
              </a:rPr>
              <a:t>Conclusion</a:t>
            </a:r>
          </a:p>
        </p:txBody>
      </p:sp>
      <p:sp>
        <p:nvSpPr>
          <p:cNvPr id="3" name="Diamond 2">
            <a:extLst>
              <a:ext uri="{FF2B5EF4-FFF2-40B4-BE49-F238E27FC236}">
                <a16:creationId xmlns:a16="http://schemas.microsoft.com/office/drawing/2014/main" id="{EF131491-F00F-5ED2-F642-754A4F4B256B}"/>
              </a:ext>
              <a:ext uri="{C183D7F6-B498-43B3-948B-1728B52AA6E4}">
                <adec:decorative xmlns:adec="http://schemas.microsoft.com/office/drawing/2017/decorative" val="1"/>
              </a:ext>
            </a:extLst>
          </p:cNvPr>
          <p:cNvSpPr/>
          <p:nvPr/>
        </p:nvSpPr>
        <p:spPr>
          <a:xfrm>
            <a:off x="8279375" y="-1489082"/>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iamond 3">
            <a:extLst>
              <a:ext uri="{FF2B5EF4-FFF2-40B4-BE49-F238E27FC236}">
                <a16:creationId xmlns:a16="http://schemas.microsoft.com/office/drawing/2014/main" id="{76007DF3-4C40-5F07-3123-D89B47BBA9A1}"/>
              </a:ext>
              <a:ext uri="{C183D7F6-B498-43B3-948B-1728B52AA6E4}">
                <adec:decorative xmlns:adec="http://schemas.microsoft.com/office/drawing/2017/decorative" val="1"/>
              </a:ext>
            </a:extLst>
          </p:cNvPr>
          <p:cNvSpPr/>
          <p:nvPr/>
        </p:nvSpPr>
        <p:spPr>
          <a:xfrm>
            <a:off x="8746436" y="-293917"/>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1">
            <a:extLst>
              <a:ext uri="{FF2B5EF4-FFF2-40B4-BE49-F238E27FC236}">
                <a16:creationId xmlns:a16="http://schemas.microsoft.com/office/drawing/2014/main" id="{8D7664FF-9F26-4E0C-2085-8396B2C2388A}"/>
              </a:ext>
            </a:extLst>
          </p:cNvPr>
          <p:cNvSpPr>
            <a:spLocks noChangeArrowheads="1"/>
          </p:cNvSpPr>
          <p:nvPr/>
        </p:nvSpPr>
        <p:spPr bwMode="auto">
          <a:xfrm>
            <a:off x="4009292" y="2837377"/>
            <a:ext cx="7106456"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This project successfully compared classical Support Vector Machines (SVMs) and a custom Convolutional Neural Network (CNN) for Facial Expression Recognition (FER).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rgbClr val="1F1F1F"/>
                </a:solidFill>
                <a:effectLst/>
                <a:latin typeface="Google Sans Text"/>
              </a:rPr>
              <a:t>The results decisively favored the deep learning approach: the custom CNN achieved 75.6% test accuracy, significantly outperforming the best SVM variant (RBF kernel, 63.0%). This gap demonstrates the CNN's advantage in automatically learning complex, hierarchical feature representations from high-dimensional pixel data, a task where traditional SVMs relying on fixed features struggled.</a:t>
            </a:r>
          </a:p>
        </p:txBody>
      </p:sp>
      <p:sp>
        <p:nvSpPr>
          <p:cNvPr id="10" name="Slide Number Placeholder 9">
            <a:extLst>
              <a:ext uri="{FF2B5EF4-FFF2-40B4-BE49-F238E27FC236}">
                <a16:creationId xmlns:a16="http://schemas.microsoft.com/office/drawing/2014/main" id="{3D6A3FF4-EF2C-BD9F-2824-5CAFB01ADF76}"/>
              </a:ext>
            </a:extLst>
          </p:cNvPr>
          <p:cNvSpPr>
            <a:spLocks noGrp="1"/>
          </p:cNvSpPr>
          <p:nvPr>
            <p:ph type="sldNum" sz="quarter" idx="12"/>
          </p:nvPr>
        </p:nvSpPr>
        <p:spPr/>
        <p:txBody>
          <a:bodyPr/>
          <a:lstStyle/>
          <a:p>
            <a:fld id="{06FEDF93-2BFD-41CA-ABC7-B039102F3792}" type="slidenum">
              <a:rPr lang="en-US" smtClean="0"/>
              <a:t>30</a:t>
            </a:fld>
            <a:endParaRPr lang="en-US" dirty="0"/>
          </a:p>
        </p:txBody>
      </p:sp>
    </p:spTree>
    <p:extLst>
      <p:ext uri="{BB962C8B-B14F-4D97-AF65-F5344CB8AC3E}">
        <p14:creationId xmlns:p14="http://schemas.microsoft.com/office/powerpoint/2010/main" val="939361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579f777-e44f-4f04-a1d7-3644e6fda15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80855CDA54E940B166407309402828" ma:contentTypeVersion="6" ma:contentTypeDescription="Create a new document." ma:contentTypeScope="" ma:versionID="47f5e0c707a9358c9bcc3e703d5f9b89">
  <xsd:schema xmlns:xsd="http://www.w3.org/2001/XMLSchema" xmlns:xs="http://www.w3.org/2001/XMLSchema" xmlns:p="http://schemas.microsoft.com/office/2006/metadata/properties" xmlns:ns3="4579f777-e44f-4f04-a1d7-3644e6fda158" targetNamespace="http://schemas.microsoft.com/office/2006/metadata/properties" ma:root="true" ma:fieldsID="4d754ee10c732546b22cec55546908c8" ns3:_="">
    <xsd:import namespace="4579f777-e44f-4f04-a1d7-3644e6fda15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79f777-e44f-4f04-a1d7-3644e6fda15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609EDA-869E-4BE5-AE5D-B898C584B6FF}">
  <ds:schemaRefs>
    <ds:schemaRef ds:uri="4579f777-e44f-4f04-a1d7-3644e6fda158"/>
    <ds:schemaRef ds:uri="http://schemas.openxmlformats.org/package/2006/metadata/core-properties"/>
    <ds:schemaRef ds:uri="http://schemas.microsoft.com/office/2006/documentManagement/types"/>
    <ds:schemaRef ds:uri="http://purl.org/dc/dcmitype/"/>
    <ds:schemaRef ds:uri="http://www.w3.org/XML/1998/namespace"/>
    <ds:schemaRef ds:uri="http://schemas.microsoft.com/office/2006/metadata/properties"/>
    <ds:schemaRef ds:uri="http://schemas.microsoft.com/office/infopath/2007/PartnerControls"/>
    <ds:schemaRef ds:uri="http://purl.org/dc/terms/"/>
    <ds:schemaRef ds:uri="http://purl.org/dc/elements/1.1/"/>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397CBA7B-3F4A-4F43-B634-2F756F4F63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79f777-e44f-4f04-a1d7-3644e6fda1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793</TotalTime>
  <Words>2164</Words>
  <Application>Microsoft Office PowerPoint</Application>
  <PresentationFormat>Widescreen</PresentationFormat>
  <Paragraphs>196</Paragraphs>
  <Slides>31</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Century Gothic</vt:lpstr>
      <vt:lpstr>Google Sans Flex</vt:lpstr>
      <vt:lpstr>Google Sans Text</vt:lpstr>
      <vt:lpstr>Segoe UI Light</vt:lpstr>
      <vt:lpstr>Office Theme</vt:lpstr>
      <vt:lpstr>Data Mining and Machine Learning project</vt:lpstr>
      <vt:lpstr>Project analysis slide 2</vt:lpstr>
      <vt:lpstr>1. Context of the project</vt:lpstr>
      <vt:lpstr>Data Description</vt:lpstr>
      <vt:lpstr>Objective</vt:lpstr>
      <vt:lpstr>Data Partitioning</vt:lpstr>
      <vt:lpstr>2. Exploratory Data Analysis</vt:lpstr>
      <vt:lpstr>Project analysis slide 5</vt:lpstr>
      <vt:lpstr>Project analysis slide 5</vt:lpstr>
      <vt:lpstr>2. Support Vector Machine (SVM)</vt:lpstr>
      <vt:lpstr>Project analysis slide 6</vt:lpstr>
      <vt:lpstr>Project analysis slide 6</vt:lpstr>
      <vt:lpstr>Project analysis slide 6</vt:lpstr>
      <vt:lpstr>Project analysis slide 6</vt:lpstr>
      <vt:lpstr>Project analysis slide 6</vt:lpstr>
      <vt:lpstr>Project analysis slide 6</vt:lpstr>
      <vt:lpstr>Project analysis slide 6</vt:lpstr>
      <vt:lpstr>Project analysis slide 6</vt:lpstr>
      <vt:lpstr>4. Convolutional Neural Network (CNN)</vt:lpstr>
      <vt:lpstr>Project analysis slide 6</vt:lpstr>
      <vt:lpstr>Project analysis slide 6</vt:lpstr>
      <vt:lpstr>Project analysis slide 6</vt:lpstr>
      <vt:lpstr>Project analysis slide 6</vt:lpstr>
      <vt:lpstr>Project analysis slide 6</vt:lpstr>
      <vt:lpstr>Project analysis slide 6</vt:lpstr>
      <vt:lpstr>Project analysis slide 6</vt:lpstr>
      <vt:lpstr>Project analysis slide 6</vt:lpstr>
      <vt:lpstr>5. Conclusion</vt:lpstr>
      <vt:lpstr>Project analysis slide 11</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SOUHA AOUIDIDI</dc:creator>
  <cp:lastModifiedBy>SOUHA AOUIDIDI</cp:lastModifiedBy>
  <cp:revision>2</cp:revision>
  <dcterms:created xsi:type="dcterms:W3CDTF">2025-12-02T21:13:17Z</dcterms:created>
  <dcterms:modified xsi:type="dcterms:W3CDTF">2025-12-14T23:33:58Z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0x010100CF80855CDA54E940B166407309402828</vt:lpwstr>
  </property>
  <property fmtid="{D5CDD505-2E9C-101B-9397-08002B2CF9AE}" pid="3" name="MSIP_Label_2ad0b24d-6422-44b0-b3de-abb3a9e8c81a_Enabled">
    <vt:lpwstr>true</vt:lpwstr>
  </property>
  <property fmtid="{D5CDD505-2E9C-101B-9397-08002B2CF9AE}" pid="4" name="MSIP_Label_2ad0b24d-6422-44b0-b3de-abb3a9e8c81a_SetDate">
    <vt:lpwstr>2025-12-02T21:45:21Z</vt:lpwstr>
  </property>
  <property fmtid="{D5CDD505-2E9C-101B-9397-08002B2CF9AE}" pid="5" name="MSIP_Label_2ad0b24d-6422-44b0-b3de-abb3a9e8c81a_Method">
    <vt:lpwstr>Standard</vt:lpwstr>
  </property>
  <property fmtid="{D5CDD505-2E9C-101B-9397-08002B2CF9AE}" pid="6" name="MSIP_Label_2ad0b24d-6422-44b0-b3de-abb3a9e8c81a_Name">
    <vt:lpwstr>defa4170-0d19-0005-0004-bc88714345d2</vt:lpwstr>
  </property>
  <property fmtid="{D5CDD505-2E9C-101B-9397-08002B2CF9AE}" pid="7" name="MSIP_Label_2ad0b24d-6422-44b0-b3de-abb3a9e8c81a_SiteId">
    <vt:lpwstr>2fcfe26a-bb62-46b0-b1e3-28f9da0c45fd</vt:lpwstr>
  </property>
  <property fmtid="{D5CDD505-2E9C-101B-9397-08002B2CF9AE}" pid="8" name="MSIP_Label_2ad0b24d-6422-44b0-b3de-abb3a9e8c81a_ActionId">
    <vt:lpwstr>1b5bae2d-4aa5-4d42-9802-21acd767754a</vt:lpwstr>
  </property>
  <property fmtid="{D5CDD505-2E9C-101B-9397-08002B2CF9AE}" pid="9" name="MSIP_Label_2ad0b24d-6422-44b0-b3de-abb3a9e8c81a_ContentBits">
    <vt:lpwstr>0</vt:lpwstr>
  </property>
  <property fmtid="{D5CDD505-2E9C-101B-9397-08002B2CF9AE}" pid="10" name="MSIP_Label_2ad0b24d-6422-44b0-b3de-abb3a9e8c81a_Tag">
    <vt:lpwstr>10, 3, 0, 1</vt:lpwstr>
  </property>
</Properties>
</file>